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36"/>
  </p:notesMasterIdLst>
  <p:handoutMasterIdLst>
    <p:handoutMasterId r:id="rId37"/>
  </p:handoutMasterIdLst>
  <p:sldIdLst>
    <p:sldId id="258" r:id="rId2"/>
    <p:sldId id="344" r:id="rId3"/>
    <p:sldId id="345" r:id="rId4"/>
    <p:sldId id="433" r:id="rId5"/>
    <p:sldId id="423" r:id="rId6"/>
    <p:sldId id="347" r:id="rId7"/>
    <p:sldId id="348" r:id="rId8"/>
    <p:sldId id="419" r:id="rId9"/>
    <p:sldId id="349" r:id="rId10"/>
    <p:sldId id="350" r:id="rId11"/>
    <p:sldId id="352" r:id="rId12"/>
    <p:sldId id="427" r:id="rId13"/>
    <p:sldId id="430" r:id="rId14"/>
    <p:sldId id="354" r:id="rId15"/>
    <p:sldId id="261" r:id="rId16"/>
    <p:sldId id="262" r:id="rId17"/>
    <p:sldId id="431" r:id="rId18"/>
    <p:sldId id="428" r:id="rId19"/>
    <p:sldId id="43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69" r:id="rId29"/>
    <p:sldId id="429" r:id="rId30"/>
    <p:sldId id="368" r:id="rId31"/>
    <p:sldId id="417" r:id="rId32"/>
    <p:sldId id="366" r:id="rId33"/>
    <p:sldId id="370" r:id="rId34"/>
    <p:sldId id="416" r:id="rId35"/>
  </p:sldIdLst>
  <p:sldSz cx="12192000" cy="6858000"/>
  <p:notesSz cx="7315200" cy="96012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4C7D9D"/>
    <a:srgbClr val="EDEFF1"/>
    <a:srgbClr val="EAEAEA"/>
    <a:srgbClr val="C0C0C0"/>
    <a:srgbClr val="00FFFF"/>
    <a:srgbClr val="E94F64"/>
    <a:srgbClr val="FF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71AD0-E863-4EF2-A522-AE972375FCF5}" v="4" dt="2026-01-05T21:40:44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5" autoAdjust="0"/>
    <p:restoredTop sz="85910" autoAdjust="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6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rtus, Ellen" userId="3ecc0487-fabf-47a7-bdfc-9a9ab219f377" providerId="ADAL" clId="{F22DC69D-EFC7-4953-AD8A-2C789F51DAC7}"/>
    <pc:docChg chg="undo custSel modSld modShowInfo">
      <pc:chgData name="Spertus, Ellen" userId="3ecc0487-fabf-47a7-bdfc-9a9ab219f377" providerId="ADAL" clId="{F22DC69D-EFC7-4953-AD8A-2C789F51DAC7}" dt="2026-01-05T21:46:17.396" v="4170" actId="20577"/>
      <pc:docMkLst>
        <pc:docMk/>
      </pc:docMkLst>
      <pc:sldChg chg="addSp delSp modSp modTransition modAnim modNotesTx">
        <pc:chgData name="Spertus, Ellen" userId="3ecc0487-fabf-47a7-bdfc-9a9ab219f377" providerId="ADAL" clId="{F22DC69D-EFC7-4953-AD8A-2C789F51DAC7}" dt="2026-01-05T21:42:29.010" v="3812" actId="20577"/>
        <pc:sldMkLst>
          <pc:docMk/>
          <pc:sldMk cId="2567585041" sldId="258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2567585041" sldId="258"/>
            <ac:picMk id="7" creationId="{68FC9BD3-B2A2-3708-7B4D-A0DF3328D897}"/>
          </ac:picMkLst>
        </pc:picChg>
      </pc:sldChg>
      <pc:sldChg chg="addSp delSp modSp mod modTransition addAnim delAnim modAnim">
        <pc:chgData name="Spertus, Ellen" userId="3ecc0487-fabf-47a7-bdfc-9a9ab219f377" providerId="ADAL" clId="{F22DC69D-EFC7-4953-AD8A-2C789F51DAC7}" dt="2026-01-05T21:40:44.529" v="3682"/>
        <pc:sldMkLst>
          <pc:docMk/>
          <pc:sldMk cId="0" sldId="261"/>
        </pc:sldMkLst>
        <pc:graphicFrameChg chg="add del mod modGraphic">
          <ac:chgData name="Spertus, Ellen" userId="3ecc0487-fabf-47a7-bdfc-9a9ab219f377" providerId="ADAL" clId="{F22DC69D-EFC7-4953-AD8A-2C789F51DAC7}" dt="2026-01-02T03:22:57.291" v="1830" actId="20577"/>
          <ac:graphicFrameMkLst>
            <pc:docMk/>
            <pc:sldMk cId="0" sldId="261"/>
            <ac:graphicFrameMk id="2" creationId="{07050766-F7F3-5646-C965-D48F997961B7}"/>
          </ac:graphicFrameMkLst>
        </pc:graphicFrameChg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0" sldId="262"/>
        </pc:sldMkLst>
      </pc:sldChg>
      <pc:sldChg chg="addSp delSp modSp modTransition modAnim">
        <pc:chgData name="Spertus, Ellen" userId="3ecc0487-fabf-47a7-bdfc-9a9ab219f377" providerId="ADAL" clId="{F22DC69D-EFC7-4953-AD8A-2C789F51DAC7}" dt="2026-01-05T21:40:44.529" v="3682"/>
        <pc:sldMkLst>
          <pc:docMk/>
          <pc:sldMk cId="1181982439" sldId="344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1181982439" sldId="344"/>
            <ac:picMk id="5" creationId="{5ADE3C05-63ED-D6B2-F268-0C531B5B1DDA}"/>
          </ac:picMkLst>
        </pc:picChg>
      </pc:sldChg>
      <pc:sldChg chg="addSp delSp modSp modTransition modAnim modNotesTx">
        <pc:chgData name="Spertus, Ellen" userId="3ecc0487-fabf-47a7-bdfc-9a9ab219f377" providerId="ADAL" clId="{F22DC69D-EFC7-4953-AD8A-2C789F51DAC7}" dt="2026-01-05T21:41:24.427" v="3688" actId="20577"/>
        <pc:sldMkLst>
          <pc:docMk/>
          <pc:sldMk cId="1681164241" sldId="345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1681164241" sldId="345"/>
            <ac:picMk id="15" creationId="{51E751C9-CD42-89D8-2164-6BAA8803E6B5}"/>
          </ac:picMkLst>
        </pc:picChg>
      </pc:sldChg>
      <pc:sldChg chg="addSp delSp modSp modTransition modAnim modNotesTx">
        <pc:chgData name="Spertus, Ellen" userId="3ecc0487-fabf-47a7-bdfc-9a9ab219f377" providerId="ADAL" clId="{F22DC69D-EFC7-4953-AD8A-2C789F51DAC7}" dt="2026-01-05T21:40:44.529" v="3682"/>
        <pc:sldMkLst>
          <pc:docMk/>
          <pc:sldMk cId="3893361992" sldId="347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3893361992" sldId="347"/>
            <ac:picMk id="14" creationId="{F44E1309-F2AF-5FA5-AD32-3B2DD0E97725}"/>
          </ac:picMkLst>
        </pc:picChg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2914897721" sldId="348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1462321089" sldId="349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2807446731" sldId="350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754031475" sldId="352"/>
        </pc:sldMkLst>
      </pc:sldChg>
      <pc:sldChg chg="modTransition modNotesTx">
        <pc:chgData name="Spertus, Ellen" userId="3ecc0487-fabf-47a7-bdfc-9a9ab219f377" providerId="ADAL" clId="{F22DC69D-EFC7-4953-AD8A-2C789F51DAC7}" dt="2026-01-05T21:43:10.434" v="3834" actId="20577"/>
        <pc:sldMkLst>
          <pc:docMk/>
          <pc:sldMk cId="654780857" sldId="354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1379081353" sldId="366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3523793933" sldId="368"/>
        </pc:sldMkLst>
      </pc:sldChg>
      <pc:sldChg chg="modTransition modNotesTx">
        <pc:chgData name="Spertus, Ellen" userId="3ecc0487-fabf-47a7-bdfc-9a9ab219f377" providerId="ADAL" clId="{F22DC69D-EFC7-4953-AD8A-2C789F51DAC7}" dt="2026-01-05T21:46:14.437" v="4169" actId="20577"/>
        <pc:sldMkLst>
          <pc:docMk/>
          <pc:sldMk cId="2631763333" sldId="369"/>
        </pc:sldMkLst>
      </pc:sldChg>
      <pc:sldChg chg="delSp modSp mod modTransition delAnim">
        <pc:chgData name="Spertus, Ellen" userId="3ecc0487-fabf-47a7-bdfc-9a9ab219f377" providerId="ADAL" clId="{F22DC69D-EFC7-4953-AD8A-2C789F51DAC7}" dt="2026-01-05T21:40:44.529" v="3682"/>
        <pc:sldMkLst>
          <pc:docMk/>
          <pc:sldMk cId="2457512374" sldId="370"/>
        </pc:sldMkLst>
        <pc:spChg chg="mod">
          <ac:chgData name="Spertus, Ellen" userId="3ecc0487-fabf-47a7-bdfc-9a9ab219f377" providerId="ADAL" clId="{F22DC69D-EFC7-4953-AD8A-2C789F51DAC7}" dt="2026-01-02T03:33:52.574" v="3681" actId="208"/>
          <ac:spMkLst>
            <pc:docMk/>
            <pc:sldMk cId="2457512374" sldId="370"/>
            <ac:spMk id="6" creationId="{605422E7-2316-8A41-8C00-63B61FEABD2D}"/>
          </ac:spMkLst>
        </pc:spChg>
      </pc:sldChg>
      <pc:sldChg chg="modTransition modNotesTx">
        <pc:chgData name="Spertus, Ellen" userId="3ecc0487-fabf-47a7-bdfc-9a9ab219f377" providerId="ADAL" clId="{F22DC69D-EFC7-4953-AD8A-2C789F51DAC7}" dt="2026-01-05T21:44:49.906" v="4078" actId="20577"/>
        <pc:sldMkLst>
          <pc:docMk/>
          <pc:sldMk cId="3394195223" sldId="373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1098887738" sldId="374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2499226336" sldId="375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1482612597" sldId="376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2419973137" sldId="377"/>
        </pc:sldMkLst>
      </pc:sldChg>
      <pc:sldChg chg="modTransition modNotesTx">
        <pc:chgData name="Spertus, Ellen" userId="3ecc0487-fabf-47a7-bdfc-9a9ab219f377" providerId="ADAL" clId="{F22DC69D-EFC7-4953-AD8A-2C789F51DAC7}" dt="2026-01-05T21:45:41.506" v="4155" actId="20577"/>
        <pc:sldMkLst>
          <pc:docMk/>
          <pc:sldMk cId="4255534443" sldId="378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2441598979" sldId="379"/>
        </pc:sldMkLst>
      </pc:sldChg>
      <pc:sldChg chg="modTransition modNotesTx">
        <pc:chgData name="Spertus, Ellen" userId="3ecc0487-fabf-47a7-bdfc-9a9ab219f377" providerId="ADAL" clId="{F22DC69D-EFC7-4953-AD8A-2C789F51DAC7}" dt="2026-01-05T21:46:17.396" v="4170" actId="20577"/>
        <pc:sldMkLst>
          <pc:docMk/>
          <pc:sldMk cId="93116140" sldId="380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1738692764" sldId="416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1932290451" sldId="417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2568146310" sldId="419"/>
        </pc:sldMkLst>
      </pc:sldChg>
      <pc:sldChg chg="addSp delSp modSp modTransition modAnim modNotesTx">
        <pc:chgData name="Spertus, Ellen" userId="3ecc0487-fabf-47a7-bdfc-9a9ab219f377" providerId="ADAL" clId="{F22DC69D-EFC7-4953-AD8A-2C789F51DAC7}" dt="2026-01-05T21:40:44.529" v="3682"/>
        <pc:sldMkLst>
          <pc:docMk/>
          <pc:sldMk cId="3011359450" sldId="423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3011359450" sldId="423"/>
            <ac:picMk id="8" creationId="{4A0B8E9B-FE7B-AB5E-03EA-5E63187C80BA}"/>
          </ac:picMkLst>
        </pc:picChg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373268840" sldId="427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1318855573" sldId="428"/>
        </pc:sldMkLst>
      </pc:sldChg>
      <pc:sldChg chg="modTransition modNotesTx">
        <pc:chgData name="Spertus, Ellen" userId="3ecc0487-fabf-47a7-bdfc-9a9ab219f377" providerId="ADAL" clId="{F22DC69D-EFC7-4953-AD8A-2C789F51DAC7}" dt="2026-01-05T21:40:44.529" v="3682"/>
        <pc:sldMkLst>
          <pc:docMk/>
          <pc:sldMk cId="4189897963" sldId="429"/>
        </pc:sldMkLst>
      </pc:sldChg>
      <pc:sldChg chg="modTransition">
        <pc:chgData name="Spertus, Ellen" userId="3ecc0487-fabf-47a7-bdfc-9a9ab219f377" providerId="ADAL" clId="{F22DC69D-EFC7-4953-AD8A-2C789F51DAC7}" dt="2026-01-05T21:40:44.529" v="3682"/>
        <pc:sldMkLst>
          <pc:docMk/>
          <pc:sldMk cId="2446270561" sldId="430"/>
        </pc:sldMkLst>
      </pc:sldChg>
      <pc:sldChg chg="modTransition modNotesTx">
        <pc:chgData name="Spertus, Ellen" userId="3ecc0487-fabf-47a7-bdfc-9a9ab219f377" providerId="ADAL" clId="{F22DC69D-EFC7-4953-AD8A-2C789F51DAC7}" dt="2026-01-05T21:43:42.923" v="3921" actId="20577"/>
        <pc:sldMkLst>
          <pc:docMk/>
          <pc:sldMk cId="1437244019" sldId="431"/>
        </pc:sldMkLst>
      </pc:sldChg>
      <pc:sldChg chg="modTransition modNotesTx">
        <pc:chgData name="Spertus, Ellen" userId="3ecc0487-fabf-47a7-bdfc-9a9ab219f377" providerId="ADAL" clId="{F22DC69D-EFC7-4953-AD8A-2C789F51DAC7}" dt="2026-01-05T21:44:07.178" v="3962" actId="20577"/>
        <pc:sldMkLst>
          <pc:docMk/>
          <pc:sldMk cId="382283805" sldId="432"/>
        </pc:sldMkLst>
      </pc:sldChg>
      <pc:sldChg chg="addSp delSp modSp modTransition modAnim modNotesTx">
        <pc:chgData name="Spertus, Ellen" userId="3ecc0487-fabf-47a7-bdfc-9a9ab219f377" providerId="ADAL" clId="{F22DC69D-EFC7-4953-AD8A-2C789F51DAC7}" dt="2026-01-05T21:41:39.808" v="3712" actId="20577"/>
        <pc:sldMkLst>
          <pc:docMk/>
          <pc:sldMk cId="2259005744" sldId="433"/>
        </pc:sldMkLst>
        <pc:picChg chg="add del mod">
          <ac:chgData name="Spertus, Ellen" userId="3ecc0487-fabf-47a7-bdfc-9a9ab219f377" providerId="ADAL" clId="{F22DC69D-EFC7-4953-AD8A-2C789F51DAC7}" dt="2026-01-05T21:40:44.529" v="3682"/>
          <ac:picMkLst>
            <pc:docMk/>
            <pc:sldMk cId="2259005744" sldId="433"/>
            <ac:picMk id="16" creationId="{ADA3BCB8-3A15-D802-1C03-430206A82A4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395B7D-3B7C-B7BF-EDDE-CFECE06D1B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8CF42-A7D7-2A14-9727-F77A587CF8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AB90B-237E-1292-22A5-661844A88F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CF40A-DB05-FBF6-4B37-19D6360CD8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671EF69-3DC7-40D8-A888-0B65F853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55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70366CE-0D13-4769-8BBD-EE0DD6699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These slides were created by Ellen Spertus and placed under 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Creative Commons Zero v1.0 Universal (CC0 1.0) license.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animations and notes.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1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over the code, pointing out that there are two instances of the class Course. Ask what will be printed. Then, show the answer (false) and explain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58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one changed line (the last line of main). Ask what will be printed. Show the result (false).</a:t>
            </a:r>
          </a:p>
          <a:p>
            <a:r>
              <a:rPr lang="en-US" dirty="0"/>
              <a:t>Point out that Course extends Object and inherits its equals()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5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equals() method for Object. It just checks if this and obj are the same instance.</a:t>
            </a:r>
          </a:p>
          <a:p>
            <a:r>
              <a:rPr lang="en-US" dirty="0"/>
              <a:t>We usually override this for classes we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9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an equals method. Does anyone see anything wrong with it?</a:t>
            </a:r>
          </a:p>
          <a:p>
            <a:r>
              <a:rPr lang="en-US" dirty="0"/>
              <a:t>We get a compiler/IDE error because this has a different signature than the equals() method in the superclass. That’s why it’s so important to use the @Override annotation, so you’re warned if the signature doesn’t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42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is now correct, but wait, we’re getting a different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58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ignore warnings, but only if you like to live dangerously.</a:t>
            </a:r>
          </a:p>
          <a:p>
            <a:r>
              <a:rPr lang="en-US" dirty="0"/>
              <a:t>What happens if we ignore this warning?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through this code, showing the unexpected behavior when we print the size of the set containing two equal elements.</a:t>
            </a:r>
          </a:p>
          <a:p>
            <a:r>
              <a:rPr lang="en-US" dirty="0"/>
              <a:t>To understand this behavior, you need to understand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5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66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chance to say if the see any problems before showing them.</a:t>
            </a:r>
          </a:p>
          <a:p>
            <a:r>
              <a:rPr lang="en-US" dirty="0"/>
              <a:t>The </a:t>
            </a:r>
            <a:r>
              <a:rPr lang="en-US" dirty="0" err="1"/>
              <a:t>hashCode</a:t>
            </a:r>
            <a:r>
              <a:rPr lang="en-US" dirty="0"/>
              <a:t>() function for strings shown here just uses the length of the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33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88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 was placed in the “B” chair because the “A” chair was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77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2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chair can contain multiple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1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partial implementation of a set of </a:t>
            </a:r>
            <a:r>
              <a:rPr lang="en-US" dirty="0" err="1"/>
              <a:t>ints</a:t>
            </a:r>
            <a:r>
              <a:rPr lang="en-US" dirty="0"/>
              <a:t> using hashing.</a:t>
            </a:r>
          </a:p>
          <a:p>
            <a:r>
              <a:rPr lang="en-US" dirty="0"/>
              <a:t>(It does not contain functions such as size().)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19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understand the mysterious behavior from earlier in lecture.</a:t>
            </a:r>
          </a:p>
          <a:p>
            <a:r>
              <a:rPr lang="en-US" dirty="0"/>
              <a:t>Because the two instances of Course have different hash values, they are both stored separately in the hash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01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Surprisingly, this is a legal hash function! It follows all the rules, but it’s an awful hash function.</a:t>
            </a:r>
          </a:p>
          <a:p>
            <a:r>
              <a:rPr lang="en-US" dirty="0"/>
              <a:t>Every object will hash to the same position, so we won’t get O(1)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87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function gets the Unicode numeric value of the first character.</a:t>
            </a:r>
          </a:p>
          <a:p>
            <a:r>
              <a:rPr lang="en-US" dirty="0"/>
              <a:t>(This may prove useful during the exercise.)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46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implementation of HashSet. Note that it counts the number of collisions.</a:t>
            </a:r>
          </a:p>
          <a:p>
            <a:r>
              <a:rPr lang="en-US" dirty="0"/>
              <a:t>(It’s an incomplete implementation because it doesn’t include contains() </a:t>
            </a:r>
            <a:r>
              <a:rPr lang="en-US"/>
              <a:t>or size </a:t>
            </a:r>
            <a:r>
              <a:rPr lang="en-US" dirty="0"/>
              <a:t>methods.)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53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code you will be working with.</a:t>
            </a:r>
          </a:p>
          <a:p>
            <a:r>
              <a:rPr lang="en-US" dirty="0"/>
              <a:t>After explaining it, say to only change the </a:t>
            </a:r>
            <a:r>
              <a:rPr lang="en-US" dirty="0" err="1"/>
              <a:t>hashCode</a:t>
            </a:r>
            <a:r>
              <a:rPr lang="en-US" dirty="0"/>
              <a:t>() implementation and possibly the main() method to test it.</a:t>
            </a:r>
          </a:p>
          <a:p>
            <a:r>
              <a:rPr lang="en-US" dirty="0"/>
              <a:t>Put QR Code/link to contest.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20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discussion should take place after the contest, either that day or on the next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8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String’s </a:t>
            </a:r>
            <a:r>
              <a:rPr lang="en-US" dirty="0" err="1"/>
              <a:t>hashCode</a:t>
            </a:r>
            <a:r>
              <a:rPr lang="en-US" dirty="0"/>
              <a:t>() method behaves. (The caret indicates exponentiation.)</a:t>
            </a:r>
          </a:p>
          <a:p>
            <a:r>
              <a:rPr lang="en-US" dirty="0"/>
              <a:t>This has the required property that if two strings are equals (have the same length and characters), they will have the same hash code.</a:t>
            </a:r>
          </a:p>
          <a:p>
            <a:r>
              <a:rPr lang="en-US" dirty="0"/>
              <a:t>This takes O(n) time (where n is the length of the string) because one value is added for each character in the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07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version of </a:t>
            </a:r>
            <a:r>
              <a:rPr lang="en-US" dirty="0" err="1"/>
              <a:t>hashCode</a:t>
            </a:r>
            <a:r>
              <a:rPr lang="en-US" dirty="0"/>
              <a:t>() that was in Java 1 but was replaced because it led to many collisions.</a:t>
            </a:r>
          </a:p>
          <a:p>
            <a:r>
              <a:rPr lang="en-US" dirty="0"/>
              <a:t>Surprisingly, it runs in constant time…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96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66CE-0D13-4769-8BBD-EE0DD669993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6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788C-7A52-BF7B-2EAD-A20F78D9D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02B72-EAC1-6A94-AF95-99FC3857B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2AD1-C2A4-4727-7520-7690C877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52BF-AA1C-5879-01A5-B5F8003C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0D51A-D92F-C0F4-6F52-564A6D7A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7B1E-6CBE-3451-78E2-332419F0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D8BE-F80A-2210-D31B-62B8CD94B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FB954-5D7F-DBC1-D1E3-0ADB103A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7E3FD-456B-EE54-7FBE-25DAA9ED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BCAC3-63FA-5D2F-9168-79C1944D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8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F387-7FE4-9F3D-0834-86E01790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C0849-4220-4663-6730-7D4716E48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85221-5843-D825-F2BF-241D557F4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F69CD-4A5A-8334-72C2-A25412D2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0A589-B5F0-10A5-86F7-548B1578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2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9A4E-7396-85E2-8B77-515B2BAE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65283-7FF1-7C1C-1665-EBC280CF7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C3602-437E-46E2-6409-C555C7E3E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239DD-8D1E-2217-6713-7421F3A4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DC58E-4475-F46B-269B-C468EBED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64725-2ACB-0A77-7394-E4F1C5CC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1299-710E-77A2-3800-5970B5DE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F3E84-89EA-111D-865D-FB4A9602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BB129-60F9-7AA7-4BD0-646A5724D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B9C2-1382-0515-1EA5-8F605A7B0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91AD4-A625-F84F-E623-50BA0C2BB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877E7D-B360-2EA8-F545-E919167B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9DCFD-7AA6-828C-236B-11F64CB8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A3831-9C17-D015-50B9-DF1B63B2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4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3963-DF4B-2F1F-551E-F98DC2B6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7786F-225B-EC5E-EED4-BF166A28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3DE76-6CCB-BC3A-CF99-BD96B132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4EB28-4F53-E368-6725-B313DC06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9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F2621-3E64-1ED2-129F-E34F0223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78C19-CEF9-358A-57D4-D019BE44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4D0F7-01B6-20E0-CC06-6FFF1DBD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8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188-BA99-A3A2-9743-847A826C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3463-05DD-315E-41BA-E86AE5758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4A3E3-7AFF-E83C-C5E5-1EDCC6FC7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E3454-FC54-2D20-8280-337D1265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22370-594B-6737-68A2-5D199CA0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DE9C-2426-67AD-B11E-6947CACE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4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4A93-283D-3D2A-3DFB-F909122B6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E6782-401E-2548-0339-E83FCF078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DE38C-8998-0A38-4134-1556DD9BF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D2603-3024-727D-0AC8-6522405C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67E57-11DC-A7FB-01AC-E35CD6D0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5C9F7-BC16-A1BC-CDE5-5B715BFB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3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9AC0-9B5E-CF6D-BAE5-6622BF6D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9C1F4-0FEA-977A-FF95-DBA2821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CAD4E-4B06-9937-A6AC-08946810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548D5-627E-BA31-0C8E-B48AAB158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DCADA-05A3-F998-32DC-A6586DAA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4D2BB-0B2C-CB43-E0CB-D75774AC8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E739C-23CD-0D1E-A6E5-127F74B8C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0DF4-A3AC-9844-22AF-747AA710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613A0-BB4B-AE04-8DD5-9F44B36A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38705-08F6-8060-4E95-54DB6CAF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81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77B90EC5-E4E3-3E0D-0447-00921B1DD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1D6531-6B37-4E8F-632C-CC51095E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680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8DD4066-CC60-7282-33E6-F1D81F90D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algn="r"/>
            <a:r>
              <a:rPr lang="en-US" sz="1100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51A065-0F1A-2284-6692-AF8C13C0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6CF7D1-1208-E793-A714-7AC41C07C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177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C25E358-E953-F2B9-FD6C-3FE095F6F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Freeform: Shape 5">
            <a:extLst>
              <a:ext uri="{FF2B5EF4-FFF2-40B4-BE49-F238E27FC236}">
                <a16:creationId xmlns:a16="http://schemas.microsoft.com/office/drawing/2014/main" id="{25719403-8508-0745-C8B7-FE0A8D602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E3305C11-2665-BF1E-49ED-71F645BB2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60AE45-E6F1-F5D8-E332-B941E043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C98195F-3961-E895-5DF0-B9615B242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4800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ctionary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D49255-5DBD-FAB4-AAF6-916BB231869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3429000"/>
            <a:ext cx="9144000" cy="1808163"/>
          </a:xfrm>
        </p:spPr>
        <p:txBody>
          <a:bodyPr/>
          <a:lstStyle>
            <a:lvl1pPr marL="0" indent="0" algn="ctr">
              <a:buNone/>
              <a:defRPr>
                <a:latin typeface="Linux Libertine"/>
              </a:defRPr>
            </a:lvl1pPr>
          </a:lstStyle>
          <a:p>
            <a:pPr lvl="0"/>
            <a:r>
              <a:rPr lang="en-US"/>
              <a:t>Definition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96A10A-180D-DE71-9FDA-05CE71A458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620712"/>
            <a:ext cx="9144000" cy="18081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latin typeface="Linux Libertine"/>
              </a:defRPr>
            </a:lvl1pPr>
          </a:lstStyle>
          <a:p>
            <a:pPr lvl="0"/>
            <a:r>
              <a:rPr lang="en-US">
                <a:latin typeface="Linux Libertine"/>
              </a:rPr>
              <a:t>Word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79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/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F8E352-4D96-04F8-C621-58008FF5F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>
            <a:lvl1pPr>
              <a:defRPr/>
            </a:lvl1pPr>
          </a:lstStyle>
          <a:p>
            <a:pPr algn="ctr"/>
            <a:r>
              <a:rPr lang="en-US" sz="2600">
                <a:solidFill>
                  <a:srgbClr val="FFFFFF"/>
                </a:solidFill>
              </a:rPr>
              <a:t> 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7A0C0FF-2261-6BBD-EE80-C1F8250DDD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3817" y="1066800"/>
            <a:ext cx="6848183" cy="4724400"/>
          </a:xfrm>
        </p:spPr>
        <p:txBody>
          <a:bodyPr/>
          <a:lstStyle>
            <a:lvl1pPr>
              <a:defRPr sz="2000"/>
            </a:lvl1pPr>
            <a:lvl2pPr marL="685800" indent="-228600">
              <a:buFont typeface="Times New Roman" panose="02020603050405020304" pitchFamily="18" charset="0"/>
              <a:buChar char="–"/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54817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/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40C932F1-1B52-C8C8-BD68-36B57B04B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Freeform: Shape 10">
            <a:extLst>
              <a:ext uri="{FF2B5EF4-FFF2-40B4-BE49-F238E27FC236}">
                <a16:creationId xmlns:a16="http://schemas.microsoft.com/office/drawing/2014/main" id="{358AE218-8F7A-33AA-16FC-5B71FF845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Freeform: Shape 12">
            <a:extLst>
              <a:ext uri="{FF2B5EF4-FFF2-40B4-BE49-F238E27FC236}">
                <a16:creationId xmlns:a16="http://schemas.microsoft.com/office/drawing/2014/main" id="{68BCF185-512F-9BE3-1D40-595981050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7370D14-A95C-437D-2968-BC250CCD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DF3EA6-47A1-1505-6DB7-DE4573B3D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2340" y="1632743"/>
            <a:ext cx="3900488" cy="3592513"/>
          </a:xfrm>
        </p:spPr>
        <p:txBody>
          <a:bodyPr anchor="ctr">
            <a:normAutofit/>
          </a:bodyPr>
          <a:lstStyle>
            <a:lvl1pPr marL="0" indent="0">
              <a:buNone/>
              <a:defRPr sz="4000"/>
            </a:lvl1pPr>
          </a:lstStyle>
          <a:p>
            <a:pPr lvl="0"/>
            <a:r>
              <a:rPr lang="en-US"/>
              <a:t>Question/title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C681C3-D7CE-0F59-8A88-1929199FA3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3817" y="1066800"/>
            <a:ext cx="6848183" cy="4724400"/>
          </a:xfrm>
        </p:spPr>
        <p:txBody>
          <a:bodyPr anchor="ctr"/>
          <a:lstStyle>
            <a:lvl1pPr>
              <a:defRPr sz="2000"/>
            </a:lvl1pPr>
            <a:lvl2pPr marL="685800" indent="-228600">
              <a:buFont typeface="Times New Roman" panose="02020603050405020304" pitchFamily="18" charset="0"/>
              <a:buChar char="–"/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22459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3B6AC7-B6C3-8162-E7F9-AA4138DFC7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5750"/>
            <a:ext cx="12192000" cy="5540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53018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 toge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8EA7E8-373F-041C-0B05-5BB0B49E3017}"/>
              </a:ext>
            </a:extLst>
          </p:cNvPr>
          <p:cNvGrpSpPr/>
          <p:nvPr userDrawn="1"/>
        </p:nvGrpSpPr>
        <p:grpSpPr>
          <a:xfrm>
            <a:off x="1110344" y="908672"/>
            <a:ext cx="10273912" cy="4733039"/>
            <a:chOff x="195944" y="941329"/>
            <a:chExt cx="10273912" cy="4733039"/>
          </a:xfrm>
          <a:solidFill>
            <a:schemeClr val="tx2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439D83D-3F82-9AA5-57F0-B2A7F027E588}"/>
                </a:ext>
              </a:extLst>
            </p:cNvPr>
            <p:cNvSpPr/>
            <p:nvPr/>
          </p:nvSpPr>
          <p:spPr>
            <a:xfrm>
              <a:off x="195944" y="1836774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F29B51E-316A-8BBC-2AB6-10FC50A499C7}"/>
                </a:ext>
              </a:extLst>
            </p:cNvPr>
            <p:cNvSpPr/>
            <p:nvPr/>
          </p:nvSpPr>
          <p:spPr>
            <a:xfrm>
              <a:off x="1197430" y="1188979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9B94D1-C7EB-EDD1-5520-D7FCCF369682}"/>
                </a:ext>
              </a:extLst>
            </p:cNvPr>
            <p:cNvSpPr/>
            <p:nvPr/>
          </p:nvSpPr>
          <p:spPr>
            <a:xfrm>
              <a:off x="3144123" y="941329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D67544-027E-0087-88FD-F1071978A649}"/>
                </a:ext>
              </a:extLst>
            </p:cNvPr>
            <p:cNvSpPr/>
            <p:nvPr/>
          </p:nvSpPr>
          <p:spPr>
            <a:xfrm>
              <a:off x="4814591" y="1115596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8D98F3-6E12-2857-BA60-14709C1711D0}"/>
                </a:ext>
              </a:extLst>
            </p:cNvPr>
            <p:cNvSpPr/>
            <p:nvPr/>
          </p:nvSpPr>
          <p:spPr>
            <a:xfrm>
              <a:off x="6701029" y="1488432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67B23D-4719-4108-CCEE-1A12775BBCB2}"/>
                </a:ext>
              </a:extLst>
            </p:cNvPr>
            <p:cNvSpPr/>
            <p:nvPr/>
          </p:nvSpPr>
          <p:spPr>
            <a:xfrm>
              <a:off x="7914435" y="2541719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3280759-3D1F-D724-6B12-87B01D486FC2}"/>
                </a:ext>
              </a:extLst>
            </p:cNvPr>
            <p:cNvSpPr/>
            <p:nvPr/>
          </p:nvSpPr>
          <p:spPr>
            <a:xfrm>
              <a:off x="5562251" y="4017438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41F438-BA9B-6A17-964B-CE02E140FB4F}"/>
                </a:ext>
              </a:extLst>
            </p:cNvPr>
            <p:cNvSpPr/>
            <p:nvPr/>
          </p:nvSpPr>
          <p:spPr>
            <a:xfrm>
              <a:off x="4106409" y="4073978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5A95E5-9E33-EFEA-0360-053797A95B3B}"/>
                </a:ext>
              </a:extLst>
            </p:cNvPr>
            <p:cNvSpPr/>
            <p:nvPr/>
          </p:nvSpPr>
          <p:spPr>
            <a:xfrm>
              <a:off x="2082382" y="3858572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EF8C89E-E557-349F-2D43-DCF2E91795FE}"/>
                </a:ext>
              </a:extLst>
            </p:cNvPr>
            <p:cNvSpPr/>
            <p:nvPr/>
          </p:nvSpPr>
          <p:spPr>
            <a:xfrm>
              <a:off x="468523" y="3119432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FF723CC-495D-7E74-3093-D08DD7CC32C3}"/>
                </a:ext>
              </a:extLst>
            </p:cNvPr>
            <p:cNvSpPr/>
            <p:nvPr/>
          </p:nvSpPr>
          <p:spPr>
            <a:xfrm>
              <a:off x="6839961" y="3296676"/>
              <a:ext cx="2555421" cy="16003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6FCA6A9-7DFE-0D07-2842-7B1EC1549774}"/>
                </a:ext>
              </a:extLst>
            </p:cNvPr>
            <p:cNvSpPr/>
            <p:nvPr/>
          </p:nvSpPr>
          <p:spPr>
            <a:xfrm>
              <a:off x="2031495" y="2033324"/>
              <a:ext cx="6392636" cy="225123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E84F7AA0-2728-BF4C-76CC-1F44F694D988}"/>
              </a:ext>
            </a:extLst>
          </p:cNvPr>
          <p:cNvSpPr/>
          <p:nvPr userDrawn="1"/>
        </p:nvSpPr>
        <p:spPr>
          <a:xfrm>
            <a:off x="2543786" y="5041605"/>
            <a:ext cx="549730" cy="60457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09503C-EBB3-B60F-3754-DBBC15694994}"/>
              </a:ext>
            </a:extLst>
          </p:cNvPr>
          <p:cNvSpPr/>
          <p:nvPr userDrawn="1"/>
        </p:nvSpPr>
        <p:spPr>
          <a:xfrm>
            <a:off x="2231513" y="5701678"/>
            <a:ext cx="429120" cy="47193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85FA61-F541-98D5-1A89-6056D18F517D}"/>
              </a:ext>
            </a:extLst>
          </p:cNvPr>
          <p:cNvSpPr/>
          <p:nvPr userDrawn="1"/>
        </p:nvSpPr>
        <p:spPr>
          <a:xfrm>
            <a:off x="1926715" y="6173609"/>
            <a:ext cx="304798" cy="3352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BD02E4-8C4C-A1C9-B62E-6B4EB6EAC078}"/>
              </a:ext>
            </a:extLst>
          </p:cNvPr>
          <p:cNvSpPr/>
          <p:nvPr userDrawn="1"/>
        </p:nvSpPr>
        <p:spPr>
          <a:xfrm>
            <a:off x="9063666" y="5162739"/>
            <a:ext cx="549730" cy="6045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C72D23-4BE9-2F98-156F-005A87CE6288}"/>
              </a:ext>
            </a:extLst>
          </p:cNvPr>
          <p:cNvSpPr/>
          <p:nvPr userDrawn="1"/>
        </p:nvSpPr>
        <p:spPr>
          <a:xfrm>
            <a:off x="9684749" y="5687447"/>
            <a:ext cx="429120" cy="4719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571370-1637-087A-B0C8-8B4366FD2F4A}"/>
              </a:ext>
            </a:extLst>
          </p:cNvPr>
          <p:cNvSpPr/>
          <p:nvPr userDrawn="1"/>
        </p:nvSpPr>
        <p:spPr>
          <a:xfrm>
            <a:off x="10309782" y="6159378"/>
            <a:ext cx="304798" cy="33520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2409548-D0FA-0E73-E420-D2B8F15D17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9400" y="2000250"/>
            <a:ext cx="6008688" cy="241458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Big idea goes here</a:t>
            </a:r>
          </a:p>
        </p:txBody>
      </p:sp>
    </p:spTree>
    <p:extLst>
      <p:ext uri="{BB962C8B-B14F-4D97-AF65-F5344CB8AC3E}">
        <p14:creationId xmlns:p14="http://schemas.microsoft.com/office/powerpoint/2010/main" val="1536282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dea - brainb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4C051F-7972-4A74-97F2-20A50D16CA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672" y="1191796"/>
            <a:ext cx="10021446" cy="29763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/>
            </a:lvl1pPr>
          </a:lstStyle>
          <a:p>
            <a:pPr algn="l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Big idea goes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565A8-A1CB-17EA-8A60-3835FE9C7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82250" y="5049611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9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dea - brainb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4C051F-7972-4A74-97F2-20A50D16CA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672" y="1191796"/>
            <a:ext cx="10021446" cy="29763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/>
            </a:lvl1pPr>
          </a:lstStyle>
          <a:p>
            <a:pPr algn="l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Big idea goes here</a:t>
            </a:r>
          </a:p>
        </p:txBody>
      </p:sp>
    </p:spTree>
    <p:extLst>
      <p:ext uri="{BB962C8B-B14F-4D97-AF65-F5344CB8AC3E}">
        <p14:creationId xmlns:p14="http://schemas.microsoft.com/office/powerpoint/2010/main" val="302435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5" name="Rectangle 2054">
            <a:extLst>
              <a:ext uri="{FF2B5EF4-FFF2-40B4-BE49-F238E27FC236}">
                <a16:creationId xmlns:a16="http://schemas.microsoft.com/office/drawing/2014/main" id="{9A552DB4-967E-D9D9-AB11-E5984498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056">
            <a:extLst>
              <a:ext uri="{FF2B5EF4-FFF2-40B4-BE49-F238E27FC236}">
                <a16:creationId xmlns:a16="http://schemas.microsoft.com/office/drawing/2014/main" id="{33B6F96A-980C-16DF-DE61-E57351539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2058">
            <a:extLst>
              <a:ext uri="{FF2B5EF4-FFF2-40B4-BE49-F238E27FC236}">
                <a16:creationId xmlns:a16="http://schemas.microsoft.com/office/drawing/2014/main" id="{45A9DF87-F484-108C-3026-6EAD9BCD8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DBAFB39-1A9F-1C92-72E3-2E612A842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2060">
              <a:extLst>
                <a:ext uri="{FF2B5EF4-FFF2-40B4-BE49-F238E27FC236}">
                  <a16:creationId xmlns:a16="http://schemas.microsoft.com/office/drawing/2014/main" id="{9CF7C349-6623-EAA8-A23F-AB30F8BC9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86BD6-598B-F694-0B14-A53A7BBC3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1CE196-E2CD-C494-F62C-C8E0F764A2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596" y="1278891"/>
            <a:ext cx="4907146" cy="4827547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i="0"/>
            </a:lvl1pPr>
          </a:lstStyle>
          <a:p>
            <a:r>
              <a:rPr lang="en-US" sz="3600" i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Quote goes here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092228F-6847-666A-5A3E-59F67C90537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97600" y="749300"/>
            <a:ext cx="5156200" cy="5187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image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25957C5-0D82-AD7A-63D9-E2DCDB7D25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5800" y="6106438"/>
            <a:ext cx="3479800" cy="74612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name goes here</a:t>
            </a:r>
          </a:p>
        </p:txBody>
      </p:sp>
    </p:spTree>
    <p:extLst>
      <p:ext uri="{BB962C8B-B14F-4D97-AF65-F5344CB8AC3E}">
        <p14:creationId xmlns:p14="http://schemas.microsoft.com/office/powerpoint/2010/main" val="1823983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16CE121A-275F-60C4-EAB9-17C400713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FAE7CFF-544B-42BF-E2B2-11412492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Freeform: Shape 13">
            <a:extLst>
              <a:ext uri="{FF2B5EF4-FFF2-40B4-BE49-F238E27FC236}">
                <a16:creationId xmlns:a16="http://schemas.microsoft.com/office/drawing/2014/main" id="{21AD0C62-9CD3-FAFE-8CE2-D51317847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A8102729-19DA-793D-1381-46E5E5C92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9" name="Freeform: Shape 16">
              <a:extLst>
                <a:ext uri="{FF2B5EF4-FFF2-40B4-BE49-F238E27FC236}">
                  <a16:creationId xmlns:a16="http://schemas.microsoft.com/office/drawing/2014/main" id="{2C8045A0-031F-9910-E039-97783DD2C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17">
              <a:extLst>
                <a:ext uri="{FF2B5EF4-FFF2-40B4-BE49-F238E27FC236}">
                  <a16:creationId xmlns:a16="http://schemas.microsoft.com/office/drawing/2014/main" id="{C1DFB49E-57A6-1C3A-838E-B14C9F6F3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8">
              <a:extLst>
                <a:ext uri="{FF2B5EF4-FFF2-40B4-BE49-F238E27FC236}">
                  <a16:creationId xmlns:a16="http://schemas.microsoft.com/office/drawing/2014/main" id="{167BF878-59CC-E085-F9F0-680BA2ABE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E4F3B796-12AC-90DE-8CEF-0EA854A89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F136992B-72D8-049B-A5E9-551A3CE59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21">
              <a:extLst>
                <a:ext uri="{FF2B5EF4-FFF2-40B4-BE49-F238E27FC236}">
                  <a16:creationId xmlns:a16="http://schemas.microsoft.com/office/drawing/2014/main" id="{ED6EEDF3-EFBB-A5FB-8117-A09149F89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22">
              <a:extLst>
                <a:ext uri="{FF2B5EF4-FFF2-40B4-BE49-F238E27FC236}">
                  <a16:creationId xmlns:a16="http://schemas.microsoft.com/office/drawing/2014/main" id="{261D8DA7-C1EA-5215-7F3A-5C21E6068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Title 4">
            <a:extLst>
              <a:ext uri="{FF2B5EF4-FFF2-40B4-BE49-F238E27FC236}">
                <a16:creationId xmlns:a16="http://schemas.microsoft.com/office/drawing/2014/main" id="{EFB9E04B-36EE-501E-B5DF-7700A399B9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/>
            </a:lvl1pPr>
          </a:lstStyle>
          <a:p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Big idea goes here</a:t>
            </a:r>
          </a:p>
        </p:txBody>
      </p:sp>
      <p:grpSp>
        <p:nvGrpSpPr>
          <p:cNvPr id="17" name="Group 24">
            <a:extLst>
              <a:ext uri="{FF2B5EF4-FFF2-40B4-BE49-F238E27FC236}">
                <a16:creationId xmlns:a16="http://schemas.microsoft.com/office/drawing/2014/main" id="{3F13CFD6-B290-6BAC-DC37-A36170FDC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A1A83402-41C3-5202-DA35-4EE2BCA13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ACA2692-3993-01FF-2901-2917C7D1DE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31DD6FC-8E1C-5717-A19D-95FB828E1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8">
              <a:extLst>
                <a:ext uri="{FF2B5EF4-FFF2-40B4-BE49-F238E27FC236}">
                  <a16:creationId xmlns:a16="http://schemas.microsoft.com/office/drawing/2014/main" id="{C3A93000-3156-6243-211E-5587E34AC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30">
            <a:extLst>
              <a:ext uri="{FF2B5EF4-FFF2-40B4-BE49-F238E27FC236}">
                <a16:creationId xmlns:a16="http://schemas.microsoft.com/office/drawing/2014/main" id="{FA251D5A-DA23-211A-E72D-443EBCB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783F89-F461-AD65-39CD-BCD5847A85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4C6941-DB91-9625-67C9-D8F04E9A9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20CFF94-6598-B979-9D7E-A7BF6402C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B4482CC-9215-9D5E-CEB8-10B42D811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79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39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955964"/>
            <a:ext cx="5157787" cy="5233699"/>
          </a:xfrm>
        </p:spPr>
        <p:txBody>
          <a:bodyPr/>
          <a:lstStyle>
            <a:lvl1pPr>
              <a:defRPr sz="2400"/>
            </a:lvl1pPr>
            <a:lvl2pPr marL="685800" indent="-228600">
              <a:buFont typeface="Times New Roman" panose="02020603050405020304" pitchFamily="18" charset="0"/>
              <a:buChar char="–"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39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55966"/>
            <a:ext cx="5183188" cy="5233698"/>
          </a:xfrm>
        </p:spPr>
        <p:txBody>
          <a:bodyPr>
            <a:normAutofit/>
          </a:bodyPr>
          <a:lstStyle>
            <a:lvl1pPr>
              <a:defRPr sz="2400"/>
            </a:lvl1pPr>
            <a:lvl2pPr marL="685800" indent="-228600">
              <a:buFont typeface="Times New Roman" panose="02020603050405020304" pitchFamily="18" charset="0"/>
              <a:buChar char="–"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6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13823-F96A-2126-2473-98C66C33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3D583-FA3F-4F35-D557-6DB01CCC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1DD6-9BD4-123B-3833-BCDD6B2C7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BDB8C-F2D0-4ED0-BE26-B1FCDBC34B5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59B6-A4C5-07EE-C294-87FC5EB9C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3D15A-9036-F077-2F52-5A155D276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53B6D-3297-47A1-9422-FF51C57D8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684" r:id="rId15"/>
    <p:sldLayoutId id="2147483683" r:id="rId16"/>
    <p:sldLayoutId id="2147483681" r:id="rId17"/>
    <p:sldLayoutId id="2147483680" r:id="rId18"/>
    <p:sldLayoutId id="2147483679" r:id="rId19"/>
    <p:sldLayoutId id="2147483687" r:id="rId20"/>
    <p:sldLayoutId id="2147483677" r:id="rId21"/>
    <p:sldLayoutId id="2147483675" r:id="rId22"/>
    <p:sldLayoutId id="214748368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jdk-mirror/jdk7u-jdk/blob/master/src/share/classes/java/lang/Object.jav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rismeral/Java-JDK-1.0-src/blob/master/src/java/lang/String.java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1170-0281-4E1C-BFC8-BB9ECE30D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6800" dirty="0"/>
              <a:t>Java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1DC3D-CAA7-4EDF-A354-823172D6F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6758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264E-5CA1-ADC0-A07D-636B17A65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Equality and hashing</a:t>
            </a:r>
          </a:p>
        </p:txBody>
      </p:sp>
    </p:spTree>
    <p:extLst>
      <p:ext uri="{BB962C8B-B14F-4D97-AF65-F5344CB8AC3E}">
        <p14:creationId xmlns:p14="http://schemas.microsoft.com/office/powerpoint/2010/main" val="1181982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2D06E1A-06E1-A1C4-19A0-0DB35B7D5C28}"/>
              </a:ext>
            </a:extLst>
          </p:cNvPr>
          <p:cNvSpPr txBox="1"/>
          <p:nvPr/>
        </p:nvSpPr>
        <p:spPr>
          <a:xfrm>
            <a:off x="377687" y="4625881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will this print?</a:t>
            </a:r>
          </a:p>
        </p:txBody>
      </p:sp>
      <p:pic>
        <p:nvPicPr>
          <p:cNvPr id="4" name="Picture 3" descr="A red and white stop sign&#10;&#10;AI-generated content may be incorrect.">
            <a:extLst>
              <a:ext uri="{FF2B5EF4-FFF2-40B4-BE49-F238E27FC236}">
                <a16:creationId xmlns:a16="http://schemas.microsoft.com/office/drawing/2014/main" id="{541D6B89-4996-28AD-1E9D-597B7DAAC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7" y="5271405"/>
            <a:ext cx="1524003" cy="1524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2DC9C5-F0C0-3C77-CFA9-8CE83753D6BB}"/>
              </a:ext>
            </a:extLst>
          </p:cNvPr>
          <p:cNvSpPr txBox="1"/>
          <p:nvPr/>
        </p:nvSpPr>
        <p:spPr>
          <a:xfrm>
            <a:off x="9318059" y="1597729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FAF26-8030-FD67-ED4A-CC3CC4A96E64}"/>
              </a:ext>
            </a:extLst>
          </p:cNvPr>
          <p:cNvSpPr txBox="1"/>
          <p:nvPr/>
        </p:nvSpPr>
        <p:spPr>
          <a:xfrm>
            <a:off x="9318058" y="3425552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86165-E2E6-9262-A08A-D8D6AEE05003}"/>
              </a:ext>
            </a:extLst>
          </p:cNvPr>
          <p:cNvSpPr txBox="1"/>
          <p:nvPr/>
        </p:nvSpPr>
        <p:spPr>
          <a:xfrm>
            <a:off x="7622094" y="1597729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34CAD2-C56F-43BA-633F-65514796F9BE}"/>
              </a:ext>
            </a:extLst>
          </p:cNvPr>
          <p:cNvCxnSpPr/>
          <p:nvPr/>
        </p:nvCxnSpPr>
        <p:spPr>
          <a:xfrm>
            <a:off x="8698676" y="1782395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3F94ED-7A11-0024-1EF1-6F4D05AC1FF0}"/>
              </a:ext>
            </a:extLst>
          </p:cNvPr>
          <p:cNvSpPr txBox="1"/>
          <p:nvPr/>
        </p:nvSpPr>
        <p:spPr>
          <a:xfrm>
            <a:off x="7643219" y="3425552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5661B3-B286-270C-A8D5-CF6E30CA6E69}"/>
              </a:ext>
            </a:extLst>
          </p:cNvPr>
          <p:cNvCxnSpPr/>
          <p:nvPr/>
        </p:nvCxnSpPr>
        <p:spPr>
          <a:xfrm>
            <a:off x="8719801" y="3610218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2F30F2-2764-5366-45EF-E92077B95F30}"/>
              </a:ext>
            </a:extLst>
          </p:cNvPr>
          <p:cNvSpPr txBox="1"/>
          <p:nvPr/>
        </p:nvSpPr>
        <p:spPr>
          <a:xfrm>
            <a:off x="421300" y="249053"/>
            <a:ext cx="60976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8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course1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     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false</a:t>
            </a:r>
            <a:b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C5EDF-AEA0-35A6-B4AE-C0906C79D826}"/>
              </a:ext>
            </a:extLst>
          </p:cNvPr>
          <p:cNvSpPr/>
          <p:nvPr/>
        </p:nvSpPr>
        <p:spPr>
          <a:xfrm>
            <a:off x="4988217" y="3598887"/>
            <a:ext cx="650943" cy="321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11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2B80-8DA7-2836-4259-21C7A5F0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D8D74A-8737-774C-BE91-442C25FD5178}"/>
              </a:ext>
            </a:extLst>
          </p:cNvPr>
          <p:cNvSpPr txBox="1"/>
          <p:nvPr/>
        </p:nvSpPr>
        <p:spPr>
          <a:xfrm>
            <a:off x="377687" y="4625881"/>
            <a:ext cx="2985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will this print?</a:t>
            </a:r>
          </a:p>
        </p:txBody>
      </p:sp>
      <p:pic>
        <p:nvPicPr>
          <p:cNvPr id="4" name="Picture 3" descr="A red and white stop sign&#10;&#10;AI-generated content may be incorrect.">
            <a:extLst>
              <a:ext uri="{FF2B5EF4-FFF2-40B4-BE49-F238E27FC236}">
                <a16:creationId xmlns:a16="http://schemas.microsoft.com/office/drawing/2014/main" id="{743A3F32-53FF-18B7-6E14-BF696F27C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7" y="5271405"/>
            <a:ext cx="1524003" cy="1524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68AF3B-1C02-0D8B-9A56-F355E2C208B9}"/>
              </a:ext>
            </a:extLst>
          </p:cNvPr>
          <p:cNvSpPr txBox="1"/>
          <p:nvPr/>
        </p:nvSpPr>
        <p:spPr>
          <a:xfrm>
            <a:off x="9318059" y="1597729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1B45F-00A3-054B-F344-7127347EC4DF}"/>
              </a:ext>
            </a:extLst>
          </p:cNvPr>
          <p:cNvSpPr txBox="1"/>
          <p:nvPr/>
        </p:nvSpPr>
        <p:spPr>
          <a:xfrm>
            <a:off x="9318058" y="3425552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A788F-0B6E-27D8-D715-EB940F8AC801}"/>
              </a:ext>
            </a:extLst>
          </p:cNvPr>
          <p:cNvSpPr txBox="1"/>
          <p:nvPr/>
        </p:nvSpPr>
        <p:spPr>
          <a:xfrm>
            <a:off x="7622094" y="1597729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ED58BB-2991-CD5F-FEDC-2A27AE855D96}"/>
              </a:ext>
            </a:extLst>
          </p:cNvPr>
          <p:cNvCxnSpPr/>
          <p:nvPr/>
        </p:nvCxnSpPr>
        <p:spPr>
          <a:xfrm>
            <a:off x="8698676" y="1782395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C2C283-94F5-A0F6-1770-25A6A46ABBE3}"/>
              </a:ext>
            </a:extLst>
          </p:cNvPr>
          <p:cNvSpPr txBox="1"/>
          <p:nvPr/>
        </p:nvSpPr>
        <p:spPr>
          <a:xfrm>
            <a:off x="7643219" y="3425552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12830D-1471-5E92-4038-2725C08AC733}"/>
              </a:ext>
            </a:extLst>
          </p:cNvPr>
          <p:cNvCxnSpPr/>
          <p:nvPr/>
        </p:nvCxnSpPr>
        <p:spPr>
          <a:xfrm>
            <a:off x="8719801" y="3610218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81CF9F-50F7-0539-5915-F39A6F1C348A}"/>
              </a:ext>
            </a:extLst>
          </p:cNvPr>
          <p:cNvSpPr txBox="1"/>
          <p:nvPr/>
        </p:nvSpPr>
        <p:spPr>
          <a:xfrm>
            <a:off x="421813" y="245685"/>
            <a:ext cx="60973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8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.equals(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     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false</a:t>
            </a:r>
            <a:b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8788BA-9472-9FC9-BDC8-1E52F4ACD2CA}"/>
              </a:ext>
            </a:extLst>
          </p:cNvPr>
          <p:cNvSpPr/>
          <p:nvPr/>
        </p:nvSpPr>
        <p:spPr>
          <a:xfrm>
            <a:off x="5366589" y="3555038"/>
            <a:ext cx="650943" cy="321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00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27FFE2-EEE6-CBD9-8AB0-8B07163F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675F9-B6B0-E94F-2C72-334F2277706D}"/>
              </a:ext>
            </a:extLst>
          </p:cNvPr>
          <p:cNvSpPr txBox="1"/>
          <p:nvPr/>
        </p:nvSpPr>
        <p:spPr>
          <a:xfrm>
            <a:off x="453666" y="6269074"/>
            <a:ext cx="11284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hlinkClick r:id="rId3"/>
              </a:rPr>
              <a:t>https://github.com/openjdk-mirror/jdk7u-jdk/blob/master/src/share/classes/java/lang/Object.java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133AB-B2D1-31A3-BC75-B02C32181364}"/>
              </a:ext>
            </a:extLst>
          </p:cNvPr>
          <p:cNvSpPr txBox="1"/>
          <p:nvPr/>
        </p:nvSpPr>
        <p:spPr>
          <a:xfrm>
            <a:off x="3332436" y="2967335"/>
            <a:ext cx="6097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24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2400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00000"/>
                </a:solidFill>
                <a:effectLst/>
                <a:latin typeface="JetBrains Mono"/>
              </a:rPr>
              <a:t>Object obj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this 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2400" dirty="0">
                <a:solidFill>
                  <a:srgbClr val="000000"/>
                </a:solidFill>
                <a:effectLst/>
                <a:latin typeface="JetBrains Mono"/>
              </a:rPr>
              <a:t>obj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135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03DAB5-F9F4-0A0C-8490-B39A8A3B8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7" y="5271405"/>
            <a:ext cx="1524003" cy="1524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A91393-C73B-C8E6-1F7E-E80DD6868CFA}"/>
              </a:ext>
            </a:extLst>
          </p:cNvPr>
          <p:cNvSpPr txBox="1"/>
          <p:nvPr/>
        </p:nvSpPr>
        <p:spPr>
          <a:xfrm>
            <a:off x="9573624" y="400848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4BF9C-9F32-EBE7-4EFE-B218E559FE2C}"/>
              </a:ext>
            </a:extLst>
          </p:cNvPr>
          <p:cNvSpPr txBox="1"/>
          <p:nvPr/>
        </p:nvSpPr>
        <p:spPr>
          <a:xfrm>
            <a:off x="9573623" y="2228671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2A55F-2038-A2CA-7EDD-BC40A0F8AC30}"/>
              </a:ext>
            </a:extLst>
          </p:cNvPr>
          <p:cNvSpPr txBox="1"/>
          <p:nvPr/>
        </p:nvSpPr>
        <p:spPr>
          <a:xfrm>
            <a:off x="7877659" y="400848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0DFBA9-0148-5C2C-047F-FD8B911CD108}"/>
              </a:ext>
            </a:extLst>
          </p:cNvPr>
          <p:cNvCxnSpPr/>
          <p:nvPr/>
        </p:nvCxnSpPr>
        <p:spPr>
          <a:xfrm>
            <a:off x="8954241" y="585514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F77B6C-3879-2687-10E5-B8CA2F5ADF04}"/>
              </a:ext>
            </a:extLst>
          </p:cNvPr>
          <p:cNvSpPr txBox="1"/>
          <p:nvPr/>
        </p:nvSpPr>
        <p:spPr>
          <a:xfrm>
            <a:off x="7898784" y="2228671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D55ABD-63EC-AC8E-8B78-F6D16776F463}"/>
              </a:ext>
            </a:extLst>
          </p:cNvPr>
          <p:cNvCxnSpPr/>
          <p:nvPr/>
        </p:nvCxnSpPr>
        <p:spPr>
          <a:xfrm>
            <a:off x="8975366" y="2413337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5283C9-1484-1D8F-0098-3AF439083F37}"/>
              </a:ext>
            </a:extLst>
          </p:cNvPr>
          <p:cNvSpPr txBox="1"/>
          <p:nvPr/>
        </p:nvSpPr>
        <p:spPr>
          <a:xfrm>
            <a:off x="1446659" y="2036582"/>
            <a:ext cx="5907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Consolas" panose="020B0609020204030204" pitchFamily="49" charset="0"/>
              </a:rPr>
              <a:t>Method does not override method from its superclass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5108D-A209-4880-47AE-71D6EFEAFAEE}"/>
              </a:ext>
            </a:extLst>
          </p:cNvPr>
          <p:cNvSpPr txBox="1"/>
          <p:nvPr/>
        </p:nvSpPr>
        <p:spPr>
          <a:xfrm>
            <a:off x="-3144" y="0"/>
            <a:ext cx="609731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other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other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&amp;&amp;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.equals(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89336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4C4A4D-22D9-E126-8E1B-957AC33D74EC}"/>
              </a:ext>
            </a:extLst>
          </p:cNvPr>
          <p:cNvSpPr txBox="1"/>
          <p:nvPr/>
        </p:nvSpPr>
        <p:spPr>
          <a:xfrm>
            <a:off x="626165" y="6305775"/>
            <a:ext cx="1120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Definition of equals() without corresponding definition of 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hashCode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() [</a:t>
            </a: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</a:rPr>
              <a:t>EqualsHashCode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B8941-641B-B37E-0DDC-840D7BA30FC3}"/>
              </a:ext>
            </a:extLst>
          </p:cNvPr>
          <p:cNvSpPr txBox="1"/>
          <p:nvPr/>
        </p:nvSpPr>
        <p:spPr>
          <a:xfrm>
            <a:off x="9573624" y="400848"/>
            <a:ext cx="22406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AB370-C204-642F-7046-FB71CB59FCA5}"/>
              </a:ext>
            </a:extLst>
          </p:cNvPr>
          <p:cNvSpPr txBox="1"/>
          <p:nvPr/>
        </p:nvSpPr>
        <p:spPr>
          <a:xfrm>
            <a:off x="9573623" y="2228671"/>
            <a:ext cx="22406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5F4D5-6096-EEA4-3DD8-F6D2F0738FEB}"/>
              </a:ext>
            </a:extLst>
          </p:cNvPr>
          <p:cNvSpPr txBox="1"/>
          <p:nvPr/>
        </p:nvSpPr>
        <p:spPr>
          <a:xfrm>
            <a:off x="7877659" y="400848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559A3-F7EC-35E4-7B83-296D9D27F708}"/>
              </a:ext>
            </a:extLst>
          </p:cNvPr>
          <p:cNvCxnSpPr/>
          <p:nvPr/>
        </p:nvCxnSpPr>
        <p:spPr>
          <a:xfrm>
            <a:off x="8954241" y="617832"/>
            <a:ext cx="6193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65E366-F8E4-1F0B-F87E-00F42C68B1C0}"/>
              </a:ext>
            </a:extLst>
          </p:cNvPr>
          <p:cNvSpPr txBox="1"/>
          <p:nvPr/>
        </p:nvSpPr>
        <p:spPr>
          <a:xfrm>
            <a:off x="7898784" y="2260989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7402BD-9503-F76E-BC3B-DF5318200D4A}"/>
              </a:ext>
            </a:extLst>
          </p:cNvPr>
          <p:cNvCxnSpPr/>
          <p:nvPr/>
        </p:nvCxnSpPr>
        <p:spPr>
          <a:xfrm>
            <a:off x="8975366" y="2445655"/>
            <a:ext cx="6193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C2FC70-9D1D-E1AC-3545-D7177219BF76}"/>
              </a:ext>
            </a:extLst>
          </p:cNvPr>
          <p:cNvSpPr txBox="1"/>
          <p:nvPr/>
        </p:nvSpPr>
        <p:spPr>
          <a:xfrm>
            <a:off x="-3144" y="0"/>
            <a:ext cx="609731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Object other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other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&amp;&amp;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.equals(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1489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mpiler - Me all the time - devRant">
            <a:extLst>
              <a:ext uri="{FF2B5EF4-FFF2-40B4-BE49-F238E27FC236}">
                <a16:creationId xmlns:a16="http://schemas.microsoft.com/office/drawing/2014/main" id="{F650BE29-85BC-4B70-5F7F-6E6C54FC7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1187" y="68263"/>
            <a:ext cx="10069625" cy="67214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6814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88055E-7608-7BAA-1284-AC72D6F4C17B}"/>
              </a:ext>
            </a:extLst>
          </p:cNvPr>
          <p:cNvSpPr txBox="1"/>
          <p:nvPr/>
        </p:nvSpPr>
        <p:spPr>
          <a:xfrm>
            <a:off x="9573624" y="400848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B8260-4EDF-95D8-F16E-FC795618253F}"/>
              </a:ext>
            </a:extLst>
          </p:cNvPr>
          <p:cNvSpPr txBox="1"/>
          <p:nvPr/>
        </p:nvSpPr>
        <p:spPr>
          <a:xfrm>
            <a:off x="9573623" y="2228671"/>
            <a:ext cx="2240689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AB740-F52D-81AE-661F-E50BF108FDE0}"/>
              </a:ext>
            </a:extLst>
          </p:cNvPr>
          <p:cNvSpPr txBox="1"/>
          <p:nvPr/>
        </p:nvSpPr>
        <p:spPr>
          <a:xfrm>
            <a:off x="7877659" y="400848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BB8421-C3B6-4862-3DBA-3CD25408705A}"/>
              </a:ext>
            </a:extLst>
          </p:cNvPr>
          <p:cNvCxnSpPr/>
          <p:nvPr/>
        </p:nvCxnSpPr>
        <p:spPr>
          <a:xfrm>
            <a:off x="8954241" y="585514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BE7BFF-8848-DCD3-4B22-0005FC3DF1AE}"/>
              </a:ext>
            </a:extLst>
          </p:cNvPr>
          <p:cNvSpPr txBox="1"/>
          <p:nvPr/>
        </p:nvSpPr>
        <p:spPr>
          <a:xfrm>
            <a:off x="7898784" y="2228671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38FD17-A0AE-9251-410E-7DC244B63E84}"/>
              </a:ext>
            </a:extLst>
          </p:cNvPr>
          <p:cNvCxnSpPr/>
          <p:nvPr/>
        </p:nvCxnSpPr>
        <p:spPr>
          <a:xfrm>
            <a:off x="8975366" y="2413337"/>
            <a:ext cx="619382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C40847-30A9-D4FD-59B0-32F02371D592}"/>
              </a:ext>
            </a:extLst>
          </p:cNvPr>
          <p:cNvSpPr txBox="1"/>
          <p:nvPr/>
        </p:nvSpPr>
        <p:spPr>
          <a:xfrm>
            <a:off x="-3144" y="-750764"/>
            <a:ext cx="6097314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java.util.HashSet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java.util.Set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Object other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other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        &amp;&amp;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.equals(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));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  <a:b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uniqueCourses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HashSet&lt;&gt;();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uniqueCourses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uniqueCourses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uniqueCourses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.size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());        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b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54B4C-B60D-4E4F-7DBE-920F5BACB2AB}"/>
              </a:ext>
            </a:extLst>
          </p:cNvPr>
          <p:cNvSpPr/>
          <p:nvPr/>
        </p:nvSpPr>
        <p:spPr>
          <a:xfrm>
            <a:off x="3963234" y="6122724"/>
            <a:ext cx="950831" cy="321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81696-9370-BADD-A220-9584CE8B3B8C}"/>
              </a:ext>
            </a:extLst>
          </p:cNvPr>
          <p:cNvSpPr/>
          <p:nvPr/>
        </p:nvSpPr>
        <p:spPr>
          <a:xfrm>
            <a:off x="4215481" y="5094750"/>
            <a:ext cx="950831" cy="321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2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BE49-2890-33E7-FAC4-B2322C801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Hashing</a:t>
            </a:r>
          </a:p>
        </p:txBody>
      </p:sp>
    </p:spTree>
    <p:extLst>
      <p:ext uri="{BB962C8B-B14F-4D97-AF65-F5344CB8AC3E}">
        <p14:creationId xmlns:p14="http://schemas.microsoft.com/office/powerpoint/2010/main" val="2807446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187C-903E-2580-1F7F-60092601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Amazing things about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9F21-DA5A-9E3F-E3D7-D871E080B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Hash sets can do these in O(1) time:</a:t>
            </a:r>
          </a:p>
          <a:p>
            <a:pPr lvl="1"/>
            <a:r>
              <a:rPr lang="en-US" dirty="0"/>
              <a:t>check if an item is in the set</a:t>
            </a:r>
          </a:p>
          <a:p>
            <a:pPr lvl="1"/>
            <a:r>
              <a:rPr lang="en-US" dirty="0"/>
              <a:t>add an item</a:t>
            </a:r>
          </a:p>
          <a:p>
            <a:endParaRPr lang="en-US" dirty="0"/>
          </a:p>
          <a:p>
            <a:r>
              <a:rPr lang="en-US" dirty="0"/>
              <a:t>Hash tables can do these in O(1) time:</a:t>
            </a:r>
          </a:p>
          <a:p>
            <a:pPr lvl="1"/>
            <a:r>
              <a:rPr lang="en-US" dirty="0"/>
              <a:t>add a key-value pair to the table</a:t>
            </a:r>
          </a:p>
          <a:p>
            <a:pPr lvl="1"/>
            <a:r>
              <a:rPr lang="en-US" dirty="0"/>
              <a:t>check if a key is in the table</a:t>
            </a:r>
          </a:p>
          <a:p>
            <a:pPr lvl="1"/>
            <a:r>
              <a:rPr lang="en-US" dirty="0"/>
              <a:t>get the value associated with a key</a:t>
            </a:r>
          </a:p>
          <a:p>
            <a:pPr lvl="1"/>
            <a:r>
              <a:rPr lang="en-US" dirty="0"/>
              <a:t>delete a key-value pair</a:t>
            </a:r>
          </a:p>
          <a:p>
            <a:pPr lvl="1"/>
            <a:endParaRPr lang="en-US" dirty="0"/>
          </a:p>
          <a:p>
            <a:r>
              <a:rPr lang="en-US" dirty="0"/>
              <a:t>How is this even possible?</a:t>
            </a:r>
          </a:p>
        </p:txBody>
      </p:sp>
    </p:spTree>
    <p:extLst>
      <p:ext uri="{BB962C8B-B14F-4D97-AF65-F5344CB8AC3E}">
        <p14:creationId xmlns:p14="http://schemas.microsoft.com/office/powerpoint/2010/main" val="75403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7952-DCFF-FDAB-96B3-028A3F10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8774A-C65F-46CC-B13D-1BA5B599B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Hashing</a:t>
            </a:r>
            <a:r>
              <a:rPr lang="en-US" dirty="0"/>
              <a:t> is mapping a value to an integer.</a:t>
            </a:r>
          </a:p>
          <a:p>
            <a:r>
              <a:rPr lang="en-US" b="1" dirty="0"/>
              <a:t>Hash tables </a:t>
            </a:r>
            <a:r>
              <a:rPr lang="en-US" dirty="0"/>
              <a:t>and </a:t>
            </a:r>
            <a:r>
              <a:rPr lang="en-US" b="1" dirty="0"/>
              <a:t>hash sets </a:t>
            </a:r>
            <a:r>
              <a:rPr lang="en-US" dirty="0"/>
              <a:t>use this integer as the index into an array.</a:t>
            </a:r>
          </a:p>
          <a:p>
            <a:r>
              <a:rPr lang="en-US" dirty="0"/>
              <a:t>Sample hash function: </a:t>
            </a:r>
            <a:r>
              <a:rPr lang="en-US" dirty="0" err="1"/>
              <a:t>hashCode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= </a:t>
            </a:r>
            <a:r>
              <a:rPr lang="en-US" dirty="0" err="1"/>
              <a:t>i</a:t>
            </a:r>
            <a:r>
              <a:rPr lang="en-US" dirty="0"/>
              <a:t> % 8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(1);	// store in position 1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(10);	// store in position 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(5);	// store in position 5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(16);	// store in position 0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9376E4-5951-4D30-527E-6301F04F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08601"/>
              </p:ext>
            </p:extLst>
          </p:nvPr>
        </p:nvGraphicFramePr>
        <p:xfrm>
          <a:off x="2297430" y="5649911"/>
          <a:ext cx="6833872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4234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8C8142-1125-C440-4A4A-2AD308632AA9}"/>
              </a:ext>
            </a:extLst>
          </p:cNvPr>
          <p:cNvSpPr/>
          <p:nvPr/>
        </p:nvSpPr>
        <p:spPr>
          <a:xfrm>
            <a:off x="3360420" y="6066471"/>
            <a:ext cx="491490" cy="25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09821-15C2-882C-E14B-C27676AA3A34}"/>
              </a:ext>
            </a:extLst>
          </p:cNvPr>
          <p:cNvSpPr/>
          <p:nvPr/>
        </p:nvSpPr>
        <p:spPr>
          <a:xfrm>
            <a:off x="4156710" y="6089886"/>
            <a:ext cx="491490" cy="25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DEDC41-2BAB-A09A-4CF8-CBCD3B1E583F}"/>
              </a:ext>
            </a:extLst>
          </p:cNvPr>
          <p:cNvSpPr/>
          <p:nvPr/>
        </p:nvSpPr>
        <p:spPr>
          <a:xfrm>
            <a:off x="6699885" y="6089886"/>
            <a:ext cx="491490" cy="25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836129-7C2D-D37B-7A12-F3F4ACC2AC28}"/>
              </a:ext>
            </a:extLst>
          </p:cNvPr>
          <p:cNvSpPr/>
          <p:nvPr/>
        </p:nvSpPr>
        <p:spPr>
          <a:xfrm>
            <a:off x="2564130" y="6089886"/>
            <a:ext cx="491490" cy="25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167B3C-4FFA-8258-491F-04CF3FA3FC9A}"/>
              </a:ext>
            </a:extLst>
          </p:cNvPr>
          <p:cNvSpPr/>
          <p:nvPr/>
        </p:nvSpPr>
        <p:spPr>
          <a:xfrm>
            <a:off x="1524000" y="1918447"/>
            <a:ext cx="9359153" cy="41954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D30A4-365B-29E2-D53F-44079F23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students to chairs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DE0229-0F5C-98BF-2D9F-7CCAA9D9E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529" y="1357200"/>
            <a:ext cx="8318942" cy="55007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9831C12-B42B-45BE-2F8B-1E592244C0F2}"/>
              </a:ext>
            </a:extLst>
          </p:cNvPr>
          <p:cNvSpPr txBox="1"/>
          <p:nvPr/>
        </p:nvSpPr>
        <p:spPr>
          <a:xfrm>
            <a:off x="2654018" y="3090446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Alex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7D1E70-E697-C027-60DE-62D82363842A}"/>
              </a:ext>
            </a:extLst>
          </p:cNvPr>
          <p:cNvSpPr txBox="1"/>
          <p:nvPr/>
        </p:nvSpPr>
        <p:spPr>
          <a:xfrm>
            <a:off x="6876394" y="3168116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Cam</a:t>
            </a:r>
          </a:p>
        </p:txBody>
      </p:sp>
    </p:spTree>
    <p:extLst>
      <p:ext uri="{BB962C8B-B14F-4D97-AF65-F5344CB8AC3E}">
        <p14:creationId xmlns:p14="http://schemas.microsoft.com/office/powerpoint/2010/main" val="244627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C51D-834F-6E54-EA67-47E315FC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See any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01B42-9092-1A6A-C4E9-7BEBD8FE6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hash non-integers?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("hi") = 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("hello") = 5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if two objects have the same hash value?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("hello") = 5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("world") = 5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if the array isn't big enough for all values?</a:t>
            </a:r>
          </a:p>
        </p:txBody>
      </p:sp>
    </p:spTree>
    <p:extLst>
      <p:ext uri="{BB962C8B-B14F-4D97-AF65-F5344CB8AC3E}">
        <p14:creationId xmlns:p14="http://schemas.microsoft.com/office/powerpoint/2010/main" val="65478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F493B48-F413-0A59-97F3-4BA86160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Collisions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8027653-825A-1BE0-DD5D-022C29ECE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collision</a:t>
            </a:r>
            <a:r>
              <a:rPr lang="en-US" altLang="en-US" dirty="0"/>
              <a:t>: When hash function maps two values to same index.</a:t>
            </a:r>
          </a:p>
          <a:p>
            <a:pPr lvl="1" eaLnBrk="1" hangingPunct="1">
              <a:lnSpc>
                <a:spcPct val="70000"/>
              </a:lnSpc>
              <a:buFontTx/>
              <a:buNone/>
            </a:pPr>
            <a:endParaRPr lang="en-US" altLang="en-US" sz="1200" dirty="0"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(1);	// position 1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(10);	// position 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(5);	// position 5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(16);	// position 0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set.add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(13);	// position 5 -- but it's already full!</a:t>
            </a:r>
          </a:p>
          <a:p>
            <a:pPr eaLnBrk="1" hangingPunct="1">
              <a:lnSpc>
                <a:spcPct val="80000"/>
              </a:lnSpc>
            </a:pPr>
            <a:endParaRPr lang="en-US" altLang="en-US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b="1" dirty="0"/>
              <a:t>collision resolution</a:t>
            </a:r>
            <a:r>
              <a:rPr lang="en-US" altLang="en-US" dirty="0"/>
              <a:t>: An algorithm for fixing collisions.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050766-F7F3-5646-C965-D48F99796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930835"/>
              </p:ext>
            </p:extLst>
          </p:nvPr>
        </p:nvGraphicFramePr>
        <p:xfrm>
          <a:off x="3955900" y="5751195"/>
          <a:ext cx="6833872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4234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807560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900908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5EC585E-3613-F535-C9CC-67F93A27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Collision resolution 1</a:t>
            </a:r>
            <a:endParaRPr lang="en-US" altLang="en-US" b="1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6A6B737-D16D-5530-E65C-569A3DF8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549842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/>
              <a:t>Linear probing </a:t>
            </a:r>
            <a:r>
              <a:rPr lang="en-US" altLang="en-US" dirty="0"/>
              <a:t>resolves a conflict by moving to the next position.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(1);	// position 1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(10);	// position 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(5);	// position 5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(16);	// position 0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set.add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(13);	// can't store in position 5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E94DD9-AB67-C928-99FC-54787AFD4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23398"/>
              </p:ext>
            </p:extLst>
          </p:nvPr>
        </p:nvGraphicFramePr>
        <p:xfrm>
          <a:off x="2449830" y="5802311"/>
          <a:ext cx="6833872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4234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807560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900908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ECE94CF-5B36-E1D8-B2BA-F9C49BD7266F}"/>
              </a:ext>
            </a:extLst>
          </p:cNvPr>
          <p:cNvSpPr/>
          <p:nvPr/>
        </p:nvSpPr>
        <p:spPr>
          <a:xfrm>
            <a:off x="7682752" y="6226939"/>
            <a:ext cx="491490" cy="25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1E88-D3F2-1577-9438-A77B5D3C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E74AD7-C93F-F3E9-FD50-3B23FFEAE99A}"/>
              </a:ext>
            </a:extLst>
          </p:cNvPr>
          <p:cNvSpPr/>
          <p:nvPr/>
        </p:nvSpPr>
        <p:spPr>
          <a:xfrm>
            <a:off x="1524000" y="1918447"/>
            <a:ext cx="9359153" cy="41954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AA75F-1963-D65E-1B1F-38720DCE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4F00EA-ECAB-448A-C7F0-05EDD0958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452" y="1357200"/>
            <a:ext cx="8271096" cy="54691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6E597C-9E7A-70C8-CBAF-0858841B7CF5}"/>
              </a:ext>
            </a:extLst>
          </p:cNvPr>
          <p:cNvSpPr txBox="1"/>
          <p:nvPr/>
        </p:nvSpPr>
        <p:spPr>
          <a:xfrm>
            <a:off x="2654479" y="3156381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Alex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B0718-F1EE-5259-0B49-21AC4D85B090}"/>
              </a:ext>
            </a:extLst>
          </p:cNvPr>
          <p:cNvSpPr txBox="1"/>
          <p:nvPr/>
        </p:nvSpPr>
        <p:spPr>
          <a:xfrm>
            <a:off x="6882265" y="3187158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96A197-FDEF-0674-A345-3A12508D0B7E}"/>
              </a:ext>
            </a:extLst>
          </p:cNvPr>
          <p:cNvSpPr txBox="1"/>
          <p:nvPr/>
        </p:nvSpPr>
        <p:spPr>
          <a:xfrm>
            <a:off x="4747352" y="315638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Amit</a:t>
            </a:r>
          </a:p>
        </p:txBody>
      </p:sp>
    </p:spTree>
    <p:extLst>
      <p:ext uri="{BB962C8B-B14F-4D97-AF65-F5344CB8AC3E}">
        <p14:creationId xmlns:p14="http://schemas.microsoft.com/office/powerpoint/2010/main" val="1437244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EF4E-69A7-DD14-3846-C1F30ED0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63CA27-1E33-C35C-6C03-9B83A81F9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818902"/>
              </p:ext>
            </p:extLst>
          </p:nvPr>
        </p:nvGraphicFramePr>
        <p:xfrm>
          <a:off x="2270536" y="4770438"/>
          <a:ext cx="6833872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4234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807560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900908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  <p:sp>
        <p:nvSpPr>
          <p:cNvPr id="18434" name="Rectangle 2">
            <a:extLst>
              <a:ext uri="{FF2B5EF4-FFF2-40B4-BE49-F238E27FC236}">
                <a16:creationId xmlns:a16="http://schemas.microsoft.com/office/drawing/2014/main" id="{79F0AB0E-066B-6FFC-0750-D570C6F6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Collision resolution 2</a:t>
            </a:r>
            <a:endParaRPr lang="en-US" altLang="en-US" b="1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4FD92B5-293E-E153-A4FE-C7969FCAF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549842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/>
              <a:t>Chaining </a:t>
            </a:r>
            <a:r>
              <a:rPr lang="en-US" altLang="en-US" dirty="0"/>
              <a:t>resolves conflicts by storing a </a:t>
            </a:r>
            <a:r>
              <a:rPr lang="en-US" altLang="en-US" b="1" dirty="0"/>
              <a:t>list</a:t>
            </a:r>
            <a:r>
              <a:rPr lang="en-US" altLang="en-US" dirty="0"/>
              <a:t> of values in each location.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(1);	// position 1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(10);	// position 2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(5);	// position 5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set.add</a:t>
            </a:r>
            <a:r>
              <a:rPr lang="en-US" dirty="0">
                <a:latin typeface="Consolas" panose="020B0609020204030204" pitchFamily="49" charset="0"/>
              </a:rPr>
              <a:t>(16);	// position 0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set.add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(13);	// can add to position 5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BA13B8-744B-AE17-B38D-2A30C45CBAEE}"/>
              </a:ext>
            </a:extLst>
          </p:cNvPr>
          <p:cNvSpPr txBox="1"/>
          <p:nvPr/>
        </p:nvSpPr>
        <p:spPr>
          <a:xfrm>
            <a:off x="2434590" y="5721588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951D9-31FA-D182-F697-53966D685B0C}"/>
              </a:ext>
            </a:extLst>
          </p:cNvPr>
          <p:cNvSpPr txBox="1"/>
          <p:nvPr/>
        </p:nvSpPr>
        <p:spPr>
          <a:xfrm>
            <a:off x="3291615" y="5721588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DB267-393A-1FEB-81AB-8CFF746677BF}"/>
              </a:ext>
            </a:extLst>
          </p:cNvPr>
          <p:cNvSpPr txBox="1"/>
          <p:nvPr/>
        </p:nvSpPr>
        <p:spPr>
          <a:xfrm>
            <a:off x="4152675" y="5721588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79CB6-BC2A-9EA3-4DA9-2F41F941C153}"/>
              </a:ext>
            </a:extLst>
          </p:cNvPr>
          <p:cNvSpPr txBox="1"/>
          <p:nvPr/>
        </p:nvSpPr>
        <p:spPr>
          <a:xfrm>
            <a:off x="6685848" y="5721588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7E54A7-9035-77DE-5435-B438B383796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947786" y="5349240"/>
            <a:ext cx="6667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B29C722-1C2F-92E4-B0B4-B8E6FD55E8BB}"/>
              </a:ext>
            </a:extLst>
          </p:cNvPr>
          <p:cNvSpPr txBox="1"/>
          <p:nvPr/>
        </p:nvSpPr>
        <p:spPr>
          <a:xfrm>
            <a:off x="6685848" y="6300390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B5157B-1E83-BD40-08D3-4508D56E27E6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6954453" y="6090920"/>
            <a:ext cx="0" cy="2094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F18391-873A-50F0-C899-CB1D33BC6191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560220" y="5349240"/>
            <a:ext cx="0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05DDD6-FA7F-A9A0-4900-DB228CBC985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421280" y="5349240"/>
            <a:ext cx="0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F8F70D-580D-5387-9B96-F5891733AC34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696527" y="5349240"/>
            <a:ext cx="6668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855573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2592-9C37-AAB0-46C9-D8228C2F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9B6A4B-2E98-C323-9BB2-9CC26A78BEC5}"/>
              </a:ext>
            </a:extLst>
          </p:cNvPr>
          <p:cNvSpPr/>
          <p:nvPr/>
        </p:nvSpPr>
        <p:spPr>
          <a:xfrm>
            <a:off x="1524000" y="1479176"/>
            <a:ext cx="9359153" cy="46347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27CF2-1895-8DDA-CB99-DF84E160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B833B-EB53-CE07-03AD-798F93DA5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452" y="1653978"/>
            <a:ext cx="8271096" cy="5469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B0BC9A-2F9D-D1DB-D57F-470D96D6B529}"/>
              </a:ext>
            </a:extLst>
          </p:cNvPr>
          <p:cNvSpPr txBox="1"/>
          <p:nvPr/>
        </p:nvSpPr>
        <p:spPr>
          <a:xfrm>
            <a:off x="2652010" y="2408995"/>
            <a:ext cx="553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Alex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3F20D-782A-5963-EDB1-5DAF596538DE}"/>
              </a:ext>
            </a:extLst>
          </p:cNvPr>
          <p:cNvSpPr txBox="1"/>
          <p:nvPr/>
        </p:nvSpPr>
        <p:spPr>
          <a:xfrm>
            <a:off x="6855370" y="3510453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37B1D-84F5-C66D-8693-FFE626AE1620}"/>
              </a:ext>
            </a:extLst>
          </p:cNvPr>
          <p:cNvSpPr txBox="1"/>
          <p:nvPr/>
        </p:nvSpPr>
        <p:spPr>
          <a:xfrm>
            <a:off x="2624022" y="343933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Amit</a:t>
            </a:r>
          </a:p>
        </p:txBody>
      </p:sp>
    </p:spTree>
    <p:extLst>
      <p:ext uri="{BB962C8B-B14F-4D97-AF65-F5344CB8AC3E}">
        <p14:creationId xmlns:p14="http://schemas.microsoft.com/office/powerpoint/2010/main" val="382283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87613D-C855-E3AA-54CE-6278CA552A57}"/>
              </a:ext>
            </a:extLst>
          </p:cNvPr>
          <p:cNvSpPr txBox="1"/>
          <p:nvPr/>
        </p:nvSpPr>
        <p:spPr>
          <a:xfrm>
            <a:off x="27446" y="-812942"/>
            <a:ext cx="6360458" cy="767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java.util.LinkedList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java.util.List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HashIntSet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private static final int </a:t>
            </a:r>
            <a:r>
              <a:rPr lang="en-US" sz="1700" i="1" dirty="0">
                <a:solidFill>
                  <a:srgbClr val="871094"/>
                </a:solidFill>
                <a:effectLst/>
                <a:latin typeface="JetBrains Mono"/>
              </a:rPr>
              <a:t>CAPACITY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&gt;[]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700" dirty="0" err="1">
                <a:solidFill>
                  <a:srgbClr val="00627A"/>
                </a:solidFill>
                <a:effectLst/>
                <a:latin typeface="JetBrains Mono"/>
              </a:rPr>
              <a:t>HashIntSet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&gt;[]) (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List[</a:t>
            </a:r>
            <a:r>
              <a:rPr lang="en-US" sz="1700" i="1" dirty="0">
                <a:solidFill>
                  <a:srgbClr val="871094"/>
                </a:solidFill>
                <a:effectLst/>
                <a:latin typeface="JetBrains Mono"/>
              </a:rPr>
              <a:t>CAPACITY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1700" dirty="0">
                <a:solidFill>
                  <a:srgbClr val="00627A"/>
                </a:solidFill>
                <a:effectLst/>
                <a:latin typeface="JetBrains Mono"/>
              </a:rPr>
              <a:t>add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hashFunction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LinkedList&lt;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&gt;();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].add(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// hashing function to convert objects to indexes</a:t>
            </a:r>
            <a:b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700" dirty="0" err="1">
                <a:solidFill>
                  <a:srgbClr val="00627A"/>
                </a:solidFill>
                <a:effectLst/>
                <a:latin typeface="JetBrains Mono"/>
              </a:rPr>
              <a:t>hashFunction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Math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700" i="1" dirty="0" err="1">
                <a:solidFill>
                  <a:srgbClr val="080808"/>
                </a:solidFill>
                <a:effectLst/>
                <a:latin typeface="JetBrains Mono"/>
              </a:rPr>
              <a:t>abs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% </a:t>
            </a:r>
            <a:r>
              <a:rPr lang="en-US" sz="1700" dirty="0" err="1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700" dirty="0" err="1">
                <a:solidFill>
                  <a:srgbClr val="871094"/>
                </a:solidFill>
                <a:effectLst/>
                <a:latin typeface="JetBrains Mono"/>
              </a:rPr>
              <a:t>length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7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700" dirty="0">
                <a:solidFill>
                  <a:srgbClr val="00627A"/>
                </a:solidFill>
                <a:effectLst/>
                <a:latin typeface="JetBrains Mono"/>
              </a:rPr>
              <a:t>contains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hashFunction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 !=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null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&amp;&amp;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7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].contains(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A96EA-1A30-5806-25F5-12272BD16722}"/>
              </a:ext>
            </a:extLst>
          </p:cNvPr>
          <p:cNvSpPr txBox="1"/>
          <p:nvPr/>
        </p:nvSpPr>
        <p:spPr>
          <a:xfrm>
            <a:off x="6548097" y="1524361"/>
            <a:ext cx="636942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7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</a:p>
          <a:p>
            <a:pPr>
              <a:buNone/>
            </a:pP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HashIntSet</a:t>
            </a:r>
            <a:r>
              <a:rPr lang="en-US" sz="1700" dirty="0">
                <a:solidFill>
                  <a:srgbClr val="000000"/>
                </a:solidFill>
                <a:effectLst/>
                <a:latin typeface="JetBrains Mono"/>
              </a:rPr>
              <a:t> set 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7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HashIntSet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>
              <a:buNone/>
            </a:pP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.contains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)); </a:t>
            </a: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// true</a:t>
            </a:r>
          </a:p>
          <a:p>
            <a:pPr>
              <a:buNone/>
            </a:pP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.contains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)); </a:t>
            </a: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// false</a:t>
            </a:r>
          </a:p>
          <a:p>
            <a:pPr>
              <a:buNone/>
            </a:pPr>
            <a:r>
              <a:rPr lang="en-US" sz="1700" i="1" dirty="0"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700" dirty="0" err="1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7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7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7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FDC088-EA70-477D-F47E-3D5E99A65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50054"/>
              </p:ext>
            </p:extLst>
          </p:nvPr>
        </p:nvGraphicFramePr>
        <p:xfrm>
          <a:off x="5330682" y="4788367"/>
          <a:ext cx="6833872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4234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807560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900908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854234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A7DC11-D0D2-4F96-7EA0-D0BB9C432D59}"/>
              </a:ext>
            </a:extLst>
          </p:cNvPr>
          <p:cNvSpPr txBox="1"/>
          <p:nvPr/>
        </p:nvSpPr>
        <p:spPr>
          <a:xfrm>
            <a:off x="5494736" y="5739517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DA352-4EFD-1CDC-37C6-8B626722C867}"/>
              </a:ext>
            </a:extLst>
          </p:cNvPr>
          <p:cNvSpPr txBox="1"/>
          <p:nvPr/>
        </p:nvSpPr>
        <p:spPr>
          <a:xfrm>
            <a:off x="7212821" y="5739517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FC4A65-921F-7E03-1E78-16ECF1A53992}"/>
              </a:ext>
            </a:extLst>
          </p:cNvPr>
          <p:cNvSpPr txBox="1"/>
          <p:nvPr/>
        </p:nvSpPr>
        <p:spPr>
          <a:xfrm>
            <a:off x="5494736" y="6318319"/>
            <a:ext cx="53721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73E2B2-CC0D-FC58-D647-CB8910B0C507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763341" y="6108849"/>
            <a:ext cx="0" cy="2094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0994D6-52D7-B16A-DB09-0FC48A44AF4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481426" y="5367169"/>
            <a:ext cx="0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2A7215-9C60-34E6-8963-F62EB2D0A00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756673" y="5367169"/>
            <a:ext cx="6668" cy="372348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19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125">
            <a:extLst>
              <a:ext uri="{FF2B5EF4-FFF2-40B4-BE49-F238E27FC236}">
                <a16:creationId xmlns:a16="http://schemas.microsoft.com/office/drawing/2014/main" id="{CCD1F4A5-E48B-048C-AB41-88AC0ADD96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06277" y="3053530"/>
            <a:ext cx="381000" cy="304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/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3735D-4129-7A4E-53FC-D35313338B03}"/>
              </a:ext>
            </a:extLst>
          </p:cNvPr>
          <p:cNvSpPr txBox="1"/>
          <p:nvPr/>
        </p:nvSpPr>
        <p:spPr>
          <a:xfrm>
            <a:off x="160579" y="8965"/>
            <a:ext cx="614530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java.util.HashSet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java.util.Set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400" dirty="0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400" dirty="0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400" dirty="0">
                <a:solidFill>
                  <a:srgbClr val="00627A"/>
                </a:solidFill>
                <a:effectLst/>
                <a:latin typeface="JetBrains Mono"/>
              </a:rPr>
              <a:t>Course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String department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4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department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4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9E880D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400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Object other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other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department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      &amp;&amp; </a:t>
            </a:r>
            <a:r>
              <a:rPr lang="en-US" sz="14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otherCourse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dirty="0" err="1">
                <a:solidFill>
                  <a:srgbClr val="871094"/>
                </a:solidFill>
                <a:effectLst/>
                <a:latin typeface="JetBrains Mono"/>
              </a:rPr>
              <a:t>number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4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 course1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 course2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Course(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"CS"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2510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.equals(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));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</a:p>
          <a:p>
            <a:pPr>
              <a:buNone/>
            </a:pP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Set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courses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HashSet&lt;&gt;();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courses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course1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courses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JetBrains Mono"/>
              </a:rPr>
              <a:t>course2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  <a:p>
            <a:pPr>
              <a:buNone/>
            </a:pP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4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JetBrains Mono"/>
              </a:rPr>
              <a:t>courses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.size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());           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</a:p>
          <a:p>
            <a:pPr>
              <a:buNone/>
            </a:pP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4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DD75E2-408E-056C-6ACC-F4B47CFE8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28944"/>
              </p:ext>
            </p:extLst>
          </p:nvPr>
        </p:nvGraphicFramePr>
        <p:xfrm>
          <a:off x="5418090" y="143237"/>
          <a:ext cx="6310600" cy="74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8825">
                  <a:extLst>
                    <a:ext uri="{9D8B030D-6E8A-4147-A177-3AD203B41FA5}">
                      <a16:colId xmlns:a16="http://schemas.microsoft.com/office/drawing/2014/main" val="2094438260"/>
                    </a:ext>
                  </a:extLst>
                </a:gridCol>
                <a:gridCol w="788825">
                  <a:extLst>
                    <a:ext uri="{9D8B030D-6E8A-4147-A177-3AD203B41FA5}">
                      <a16:colId xmlns:a16="http://schemas.microsoft.com/office/drawing/2014/main" val="1668905315"/>
                    </a:ext>
                  </a:extLst>
                </a:gridCol>
                <a:gridCol w="788825">
                  <a:extLst>
                    <a:ext uri="{9D8B030D-6E8A-4147-A177-3AD203B41FA5}">
                      <a16:colId xmlns:a16="http://schemas.microsoft.com/office/drawing/2014/main" val="110221721"/>
                    </a:ext>
                  </a:extLst>
                </a:gridCol>
                <a:gridCol w="788825">
                  <a:extLst>
                    <a:ext uri="{9D8B030D-6E8A-4147-A177-3AD203B41FA5}">
                      <a16:colId xmlns:a16="http://schemas.microsoft.com/office/drawing/2014/main" val="122254025"/>
                    </a:ext>
                  </a:extLst>
                </a:gridCol>
                <a:gridCol w="788825">
                  <a:extLst>
                    <a:ext uri="{9D8B030D-6E8A-4147-A177-3AD203B41FA5}">
                      <a16:colId xmlns:a16="http://schemas.microsoft.com/office/drawing/2014/main" val="1155150389"/>
                    </a:ext>
                  </a:extLst>
                </a:gridCol>
                <a:gridCol w="745725">
                  <a:extLst>
                    <a:ext uri="{9D8B030D-6E8A-4147-A177-3AD203B41FA5}">
                      <a16:colId xmlns:a16="http://schemas.microsoft.com/office/drawing/2014/main" val="383210579"/>
                    </a:ext>
                  </a:extLst>
                </a:gridCol>
                <a:gridCol w="831925">
                  <a:extLst>
                    <a:ext uri="{9D8B030D-6E8A-4147-A177-3AD203B41FA5}">
                      <a16:colId xmlns:a16="http://schemas.microsoft.com/office/drawing/2014/main" val="3854095919"/>
                    </a:ext>
                  </a:extLst>
                </a:gridCol>
                <a:gridCol w="788825">
                  <a:extLst>
                    <a:ext uri="{9D8B030D-6E8A-4147-A177-3AD203B41FA5}">
                      <a16:colId xmlns:a16="http://schemas.microsoft.com/office/drawing/2014/main" val="135990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8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485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BFF844-2358-9EB6-78D3-6D739930B287}"/>
              </a:ext>
            </a:extLst>
          </p:cNvPr>
          <p:cNvSpPr txBox="1"/>
          <p:nvPr/>
        </p:nvSpPr>
        <p:spPr>
          <a:xfrm>
            <a:off x="7045880" y="1707078"/>
            <a:ext cx="22406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EED8C-9E78-0421-9F4A-1C402CB5F8CD}"/>
              </a:ext>
            </a:extLst>
          </p:cNvPr>
          <p:cNvSpPr txBox="1"/>
          <p:nvPr/>
        </p:nvSpPr>
        <p:spPr>
          <a:xfrm>
            <a:off x="5409125" y="1707078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course1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A7B526-561E-D58D-819A-B2A365BADE60}"/>
              </a:ext>
            </a:extLst>
          </p:cNvPr>
          <p:cNvCxnSpPr>
            <a:cxnSpLocks/>
          </p:cNvCxnSpPr>
          <p:nvPr/>
        </p:nvCxnSpPr>
        <p:spPr>
          <a:xfrm>
            <a:off x="6514021" y="1891744"/>
            <a:ext cx="5318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ine 105">
            <a:extLst>
              <a:ext uri="{FF2B5EF4-FFF2-40B4-BE49-F238E27FC236}">
                <a16:creationId xmlns:a16="http://schemas.microsoft.com/office/drawing/2014/main" id="{49107DE9-D32C-2B69-0581-51FA4C64F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312" y="697577"/>
            <a:ext cx="0" cy="1009500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  <a:extLst>
            <a:ext uri="{909E8E84-426E-40dd-AFC4-6F175D3DCCD1}"/>
            <a:ext uri="{AF507438-7753-43e0-B8FC-AC1667EBCBE1}"/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A3405-4C48-4A6C-5CF1-6DD21BCFDB0D}"/>
              </a:ext>
            </a:extLst>
          </p:cNvPr>
          <p:cNvSpPr txBox="1"/>
          <p:nvPr/>
        </p:nvSpPr>
        <p:spPr>
          <a:xfrm>
            <a:off x="9386081" y="3561279"/>
            <a:ext cx="224068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Consolas" panose="020B0609020204030204" pitchFamily="49" charset="0"/>
                <a:cs typeface="Consolas" panose="020B0609020204030204" pitchFamily="49" charset="0"/>
              </a:rPr>
              <a:t>Course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department: "CS"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number: 2510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8A4D9-0198-4ACF-D3E5-91492A595AA1}"/>
              </a:ext>
            </a:extLst>
          </p:cNvPr>
          <p:cNvSpPr txBox="1"/>
          <p:nvPr/>
        </p:nvSpPr>
        <p:spPr>
          <a:xfrm>
            <a:off x="7711242" y="3561279"/>
            <a:ext cx="2153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course2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672A77-91F6-CBEC-8597-CD3443B889EB}"/>
              </a:ext>
            </a:extLst>
          </p:cNvPr>
          <p:cNvCxnSpPr/>
          <p:nvPr/>
        </p:nvCxnSpPr>
        <p:spPr>
          <a:xfrm>
            <a:off x="8787824" y="3745945"/>
            <a:ext cx="61938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ine 105">
            <a:extLst>
              <a:ext uri="{FF2B5EF4-FFF2-40B4-BE49-F238E27FC236}">
                <a16:creationId xmlns:a16="http://schemas.microsoft.com/office/drawing/2014/main" id="{19C4B9BD-D41E-D5A2-FAA1-24CBA15BA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6426" y="697577"/>
            <a:ext cx="0" cy="2863703"/>
          </a:xfrm>
          <a:prstGeom prst="line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  <a:extLst>
            <a:ext uri="{909E8E84-426E-40dd-AFC4-6F175D3DCCD1}"/>
            <a:ext uri="{AF507438-7753-43e0-B8FC-AC1667EBCBE1}"/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8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2" grpId="0" animBg="1"/>
      <p:bldP spid="6" grpId="0" animBg="1"/>
      <p:bldP spid="9" grpId="0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6D6F-940C-7CE2-C000-43D0688CD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9922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0AECD-51EC-AAAD-3B6A-0C28C535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32401" cy="6858000"/>
          </a:xfrm>
          <a:prstGeom prst="rect">
            <a:avLst/>
          </a:prstGeom>
        </p:spPr>
      </p:pic>
      <p:pic>
        <p:nvPicPr>
          <p:cNvPr id="22530" name="Picture 2" descr="Effective Java 3, Bloch, Joshua , eBook - Amazon.com">
            <a:extLst>
              <a:ext uri="{FF2B5EF4-FFF2-40B4-BE49-F238E27FC236}">
                <a16:creationId xmlns:a16="http://schemas.microsoft.com/office/drawing/2014/main" id="{336E4120-E468-BCAC-96C0-4E4004B4B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056" y="425301"/>
            <a:ext cx="2241174" cy="291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Josh Bloch - SPLASH 2021">
            <a:extLst>
              <a:ext uri="{FF2B5EF4-FFF2-40B4-BE49-F238E27FC236}">
                <a16:creationId xmlns:a16="http://schemas.microsoft.com/office/drawing/2014/main" id="{C34260C8-ED80-0CA6-D3F6-E14F227FF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056" y="3894680"/>
            <a:ext cx="2286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612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E9BF-2DE9-4763-8E46-6A641315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</a:t>
            </a: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A25F-22EF-2BB4-80E3-D65BC44B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must always return the same value for a given object.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two objects are </a:t>
            </a:r>
            <a:r>
              <a:rPr lang="en-US" dirty="0">
                <a:latin typeface="Consolas" panose="020B0609020204030204" pitchFamily="49" charset="0"/>
              </a:rPr>
              <a:t>equals()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must return the same values for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a legal hash function?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E47D04-7EBD-3601-7E94-17AA5F6B8885}"/>
              </a:ext>
            </a:extLst>
          </p:cNvPr>
          <p:cNvCxnSpPr/>
          <p:nvPr/>
        </p:nvCxnSpPr>
        <p:spPr>
          <a:xfrm>
            <a:off x="297543" y="3805304"/>
            <a:ext cx="11596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6D10A0-A125-11CE-7506-DEFF635846E8}"/>
              </a:ext>
            </a:extLst>
          </p:cNvPr>
          <p:cNvSpPr txBox="1"/>
          <p:nvPr/>
        </p:nvSpPr>
        <p:spPr>
          <a:xfrm>
            <a:off x="939054" y="4826382"/>
            <a:ext cx="61094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24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lang="en-US" sz="2400" dirty="0" err="1">
                <a:solidFill>
                  <a:srgbClr val="00627A"/>
                </a:solidFill>
                <a:effectLst/>
                <a:latin typeface="JetBrains Mono"/>
              </a:rPr>
              <a:t>hashCode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     </a:t>
            </a:r>
            <a:r>
              <a:rPr lang="en-US" sz="24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400" dirty="0">
                <a:solidFill>
                  <a:srgbClr val="1750EB"/>
                </a:solidFill>
                <a:effectLst/>
                <a:latin typeface="JetBrains Mono"/>
              </a:rPr>
              <a:t>37</a:t>
            </a: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9973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8C5F-4C6D-93F4-8AD9-F34C9643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a good hash function for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8130B-899E-6651-6918-B869DBD6C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Desired characteristics</a:t>
            </a:r>
          </a:p>
          <a:p>
            <a:pPr lvl="1"/>
            <a:r>
              <a:rPr lang="en-US" dirty="0"/>
              <a:t>Different strings have different hash values.</a:t>
            </a:r>
          </a:p>
          <a:p>
            <a:pPr lvl="1"/>
            <a:r>
              <a:rPr lang="en-US" dirty="0"/>
              <a:t>Quick to compute.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How are these values?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37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string.length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Character.codePointAt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string.toCharArray</a:t>
            </a:r>
            <a:r>
              <a:rPr lang="en-US" dirty="0">
                <a:latin typeface="Consolas" panose="020B0609020204030204" pitchFamily="49" charset="0"/>
              </a:rPr>
              <a:t>(), 0)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3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BC50-DDB2-2354-B933-99C6A20BA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441598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57389D-A777-FDF4-266C-DAD3FE0C5EC6}"/>
              </a:ext>
            </a:extLst>
          </p:cNvPr>
          <p:cNvSpPr txBox="1"/>
          <p:nvPr/>
        </p:nvSpPr>
        <p:spPr>
          <a:xfrm>
            <a:off x="0" y="-33013"/>
            <a:ext cx="6096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java.util.LinkedList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java.util.List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HashSet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final int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capacity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&gt;[]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numCollisions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HashSet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capacity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capacity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capacity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elements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600" dirty="0"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&gt;[]) (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List[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capacity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numCollisions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1600" dirty="0">
                <a:solidFill>
                  <a:srgbClr val="00627A"/>
                </a:solidFill>
                <a:effectLst/>
                <a:latin typeface="JetBrains Mono"/>
              </a:rPr>
              <a:t>add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7E8A"/>
                </a:solidFill>
                <a:effectLst/>
                <a:latin typeface="JetBrains Mono"/>
              </a:rPr>
              <a:t>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index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.hashCode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 ==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LinkedList&lt;</a:t>
            </a:r>
            <a:r>
              <a:rPr lang="en-US" sz="1600" dirty="0">
                <a:solidFill>
                  <a:srgbClr val="007E8A"/>
                </a:solidFill>
                <a:effectLst/>
                <a:latin typeface="JetBrains Mono"/>
              </a:rPr>
              <a:t>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&gt;();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numCollisions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++;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871094"/>
                </a:solidFill>
                <a:effectLst/>
                <a:latin typeface="JetBrains Mono"/>
              </a:rPr>
              <a:t>elements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index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].add(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lang="en-US" sz="1600" dirty="0" err="1">
                <a:solidFill>
                  <a:srgbClr val="00627A"/>
                </a:solidFill>
                <a:effectLst/>
                <a:latin typeface="JetBrains Mono"/>
              </a:rPr>
              <a:t>getNumCollisions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600" dirty="0" err="1">
                <a:solidFill>
                  <a:srgbClr val="871094"/>
                </a:solidFill>
                <a:effectLst/>
                <a:latin typeface="JetBrains Mono"/>
              </a:rPr>
              <a:t>numCollisions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93116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01207F-7C10-6973-A057-9E69624E0002}"/>
              </a:ext>
            </a:extLst>
          </p:cNvPr>
          <p:cNvSpPr txBox="1"/>
          <p:nvPr/>
        </p:nvSpPr>
        <p:spPr>
          <a:xfrm>
            <a:off x="197223" y="134470"/>
            <a:ext cx="6517341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MyString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private final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MyString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String 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s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00627A"/>
                </a:solidFill>
                <a:effectLst/>
                <a:latin typeface="JetBrains Mono"/>
              </a:rPr>
              <a:t>equals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Object other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other </a:t>
            </a:r>
            <a:r>
              <a:rPr lang="en-US" dirty="0" err="1"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dirty="0" err="1">
                <a:solidFill>
                  <a:srgbClr val="871094"/>
                </a:solidFill>
                <a:effectLst/>
                <a:latin typeface="JetBrains Mono"/>
              </a:rPr>
              <a:t>s</a:t>
            </a:r>
            <a:r>
              <a:rPr lang="en-US" dirty="0" err="1"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(((</a:t>
            </a:r>
            <a:r>
              <a:rPr lang="en-US" dirty="0" err="1">
                <a:solidFill>
                  <a:srgbClr val="000000"/>
                </a:solidFill>
                <a:effectLst/>
                <a:latin typeface="JetBrains Mono"/>
              </a:rPr>
              <a:t>MyString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dirty="0">
                <a:solidFill>
                  <a:srgbClr val="000000"/>
                </a:solidFill>
                <a:effectLst/>
                <a:latin typeface="JetBrains Mono"/>
              </a:rPr>
              <a:t>other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lang="en-US" dirty="0">
                <a:solidFill>
                  <a:srgbClr val="871094"/>
                </a:solidFill>
                <a:effectLst/>
                <a:latin typeface="JetBrains Mono"/>
              </a:rPr>
              <a:t>s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lang="en-US" dirty="0" err="1">
                <a:solidFill>
                  <a:srgbClr val="00627A"/>
                </a:solidFill>
                <a:effectLst/>
                <a:latin typeface="JetBrains Mono"/>
              </a:rPr>
              <a:t>hashCode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// Try to make different strings return different values.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    // You must not call any other implementation of </a:t>
            </a:r>
            <a:r>
              <a:rPr lang="en-US" i="1" dirty="0" err="1">
                <a:solidFill>
                  <a:srgbClr val="8C8C8C"/>
                </a:solidFill>
                <a:effectLst/>
                <a:latin typeface="JetBrains Mono"/>
              </a:rPr>
              <a:t>hashCode</a:t>
            </a: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().</a:t>
            </a:r>
            <a:br>
              <a:rPr lang="en-US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dirty="0">
                <a:solidFill>
                  <a:srgbClr val="1750EB"/>
                </a:solidFill>
                <a:effectLst/>
                <a:latin typeface="JetBrains Mono"/>
              </a:rPr>
              <a:t>37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  <a:p>
            <a:pPr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</a:rPr>
              <a:t>}</a:t>
            </a: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4A063-6F61-D243-E84D-C2B5200EB7A1}"/>
              </a:ext>
            </a:extLst>
          </p:cNvPr>
          <p:cNvSpPr txBox="1"/>
          <p:nvPr/>
        </p:nvSpPr>
        <p:spPr>
          <a:xfrm>
            <a:off x="5405718" y="2310696"/>
            <a:ext cx="69924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testStrings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{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"world"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String s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testStrings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.printf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"%s -&gt; %d</a:t>
            </a:r>
            <a:r>
              <a:rPr lang="en-US" sz="1800" dirty="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MyString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hashCode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63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020A-5DCA-60E9-4BC4-7D488564C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4189897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D4DCD-DC4E-4F0C-1649-FD486F74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50" y="1533260"/>
            <a:ext cx="11288700" cy="37914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4954E-4809-6355-8E89-4413964D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C0978-7E5D-DAEE-8111-3CF7C56CDC76}"/>
              </a:ext>
            </a:extLst>
          </p:cNvPr>
          <p:cNvSpPr txBox="1"/>
          <p:nvPr/>
        </p:nvSpPr>
        <p:spPr>
          <a:xfrm>
            <a:off x="1593129" y="6193410"/>
            <a:ext cx="4832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time complexity? O(n)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17086-21C6-A73D-4D09-8CA77DA3BCDB}"/>
              </a:ext>
            </a:extLst>
          </p:cNvPr>
          <p:cNvSpPr/>
          <p:nvPr/>
        </p:nvSpPr>
        <p:spPr>
          <a:xfrm>
            <a:off x="4527818" y="6193409"/>
            <a:ext cx="914400" cy="479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4F4C-5995-E70B-4CFB-A907ABB8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1 String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63322-7A3B-09EC-F3F3-C4E86C5D3459}"/>
              </a:ext>
            </a:extLst>
          </p:cNvPr>
          <p:cNvSpPr txBox="1"/>
          <p:nvPr/>
        </p:nvSpPr>
        <p:spPr>
          <a:xfrm>
            <a:off x="838200" y="1502688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lang="en-US" sz="1800" dirty="0" err="1">
                <a:solidFill>
                  <a:srgbClr val="00627A"/>
                </a:solidFill>
                <a:effectLst/>
                <a:latin typeface="JetBrains Mono"/>
              </a:rPr>
              <a:t>hashCode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off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offset;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char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val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[] = value;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count;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--)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37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val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off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++];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}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skip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/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-=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skip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off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+=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skip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39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val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off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800" dirty="0">
                <a:solidFill>
                  <a:srgbClr val="000000"/>
                </a:solidFill>
                <a:effectLst/>
                <a:latin typeface="JetBrains Mono"/>
              </a:rPr>
              <a:t>h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327B7-4953-E2DD-738C-6654CB30695F}"/>
              </a:ext>
            </a:extLst>
          </p:cNvPr>
          <p:cNvSpPr txBox="1"/>
          <p:nvPr/>
        </p:nvSpPr>
        <p:spPr>
          <a:xfrm>
            <a:off x="3630706" y="6395882"/>
            <a:ext cx="9251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https://github.com/barismeral/Java-JDK-1.0-src/blob/master/src/java/lang/String.java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2290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C3D0-A1B9-5B74-6623-981E683C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of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4D1C-9CEB-C7B6-06E5-846B56873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be O(n) with a low constant</a:t>
            </a:r>
          </a:p>
          <a:p>
            <a:endParaRPr lang="en-US" dirty="0"/>
          </a:p>
          <a:p>
            <a:r>
              <a:rPr lang="en-US" dirty="0"/>
              <a:t>Fun fact: The Java 1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String.hashCode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ran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O(1)</a:t>
            </a:r>
            <a:r>
              <a:rPr lang="en-US" dirty="0"/>
              <a:t> time</a:t>
            </a:r>
          </a:p>
          <a:p>
            <a:pPr lvl="1"/>
            <a:r>
              <a:rPr lang="en-US" dirty="0"/>
              <a:t>For n &lt; 16, every character was considered</a:t>
            </a:r>
          </a:p>
          <a:p>
            <a:pPr lvl="1"/>
            <a:r>
              <a:rPr lang="en-US" dirty="0"/>
              <a:t>for n &gt;= 16, 8 characters were considered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BC94C-EFE6-76B6-DFC2-09177F713041}"/>
              </a:ext>
            </a:extLst>
          </p:cNvPr>
          <p:cNvSpPr txBox="1"/>
          <p:nvPr/>
        </p:nvSpPr>
        <p:spPr>
          <a:xfrm>
            <a:off x="615778" y="4703867"/>
            <a:ext cx="10960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 0500 – 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rtificial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Intellige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ce and Ma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hine Lear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ing for S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rategic Pl</a:t>
            </a:r>
            <a:r>
              <a:rPr lang="en-US" dirty="0">
                <a:highlight>
                  <a:srgbClr val="00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nning</a:t>
            </a:r>
          </a:p>
        </p:txBody>
      </p:sp>
    </p:spTree>
    <p:extLst>
      <p:ext uri="{BB962C8B-B14F-4D97-AF65-F5344CB8AC3E}">
        <p14:creationId xmlns:p14="http://schemas.microsoft.com/office/powerpoint/2010/main" val="137908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9997-3C8B-25F9-D853-07069D71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9CB7-0594-722D-24DA-719EBADAC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override </a:t>
            </a:r>
            <a:r>
              <a:rPr lang="en-US" dirty="0">
                <a:latin typeface="Consolas" panose="020B0609020204030204" pitchFamily="49" charset="0"/>
              </a:rPr>
              <a:t>equals()</a:t>
            </a:r>
            <a:r>
              <a:rPr lang="en-US" dirty="0"/>
              <a:t>, override </a:t>
            </a: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obj1.equals(obj2) -&gt; obj1.hashCode() == obj2.hashCode()</a:t>
            </a:r>
          </a:p>
          <a:p>
            <a:pPr lvl="1"/>
            <a:r>
              <a:rPr lang="en-US" dirty="0"/>
              <a:t>Try to get different </a:t>
            </a: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values for different objects</a:t>
            </a:r>
          </a:p>
          <a:p>
            <a:pPr lvl="1"/>
            <a:r>
              <a:rPr lang="en-US" dirty="0"/>
              <a:t>Let the IDE or library help you </a:t>
            </a:r>
          </a:p>
          <a:p>
            <a:pPr lvl="1"/>
            <a:endParaRPr lang="en-US" dirty="0"/>
          </a:p>
          <a:p>
            <a:r>
              <a:rPr lang="en-US" dirty="0"/>
              <a:t>Hash set/table performance</a:t>
            </a:r>
          </a:p>
          <a:p>
            <a:pPr lvl="1"/>
            <a:r>
              <a:rPr lang="en-US" dirty="0"/>
              <a:t>O(1) lookup expected case</a:t>
            </a:r>
          </a:p>
          <a:p>
            <a:pPr lvl="1"/>
            <a:r>
              <a:rPr lang="en-US" dirty="0"/>
              <a:t>Time-space trade-offs</a:t>
            </a:r>
          </a:p>
          <a:p>
            <a:pPr lvl="1"/>
            <a:r>
              <a:rPr lang="en-US" dirty="0"/>
              <a:t>Not as simple or fast as arrays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422E7-2316-8A41-8C00-63B61FEABD2D}"/>
              </a:ext>
            </a:extLst>
          </p:cNvPr>
          <p:cNvSpPr txBox="1"/>
          <p:nvPr/>
        </p:nvSpPr>
        <p:spPr>
          <a:xfrm>
            <a:off x="6685429" y="3895093"/>
            <a:ext cx="504937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java.util.Objects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;</a:t>
            </a:r>
          </a:p>
          <a:p>
            <a:pPr>
              <a:buNone/>
            </a:pPr>
            <a:endParaRPr lang="en-US" sz="1800" dirty="0">
              <a:solidFill>
                <a:srgbClr val="9E880D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 sz="1800" dirty="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800" dirty="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lang="en-US" sz="1800" dirty="0" err="1">
                <a:solidFill>
                  <a:srgbClr val="00627A"/>
                </a:solidFill>
                <a:effectLst/>
                <a:latin typeface="JetBrains Mono"/>
              </a:rPr>
              <a:t>hashCode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// Call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Objects.hash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() on all fields used for equality.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JetBrains Mono"/>
              </a:rPr>
              <a:t>Objects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effectLst/>
                <a:latin typeface="JetBrains Mono"/>
              </a:rPr>
              <a:t>hash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871094"/>
                </a:solidFill>
                <a:effectLst/>
                <a:latin typeface="JetBrains Mono"/>
              </a:rPr>
              <a:t>s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751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24780A6-AEBC-CFE0-EF55-DB6B3311A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57175"/>
            <a:ext cx="47625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692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0000000-0000-0000-0000-000000000000"/>
  <p:tag name="SLIDO_EVENT_UUID" val="94c96f2c-9628-4569-b294-738d510566f4"/>
  <p:tag name="SLIDO_EVENT_SECTION_UUID" val="e5727f75-85e9-457a-8305-84ca130181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16150</TotalTime>
  <Words>3427</Words>
  <Application>Microsoft Office PowerPoint</Application>
  <PresentationFormat>Widescreen</PresentationFormat>
  <Paragraphs>340</Paragraphs>
  <Slides>34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Consolas</vt:lpstr>
      <vt:lpstr>Courier New</vt:lpstr>
      <vt:lpstr>JetBrains Mono</vt:lpstr>
      <vt:lpstr>Linux Libertine</vt:lpstr>
      <vt:lpstr>Times New Roman</vt:lpstr>
      <vt:lpstr>Office Theme</vt:lpstr>
      <vt:lpstr>Java hashing</vt:lpstr>
      <vt:lpstr>Equality and hashing</vt:lpstr>
      <vt:lpstr>PowerPoint Presentation</vt:lpstr>
      <vt:lpstr>PowerPoint Presentation</vt:lpstr>
      <vt:lpstr>Object</vt:lpstr>
      <vt:lpstr>PowerPoint Presentation</vt:lpstr>
      <vt:lpstr>PowerPoint Presentation</vt:lpstr>
      <vt:lpstr>PowerPoint Presentation</vt:lpstr>
      <vt:lpstr>PowerPoint Presentation</vt:lpstr>
      <vt:lpstr>Hashing</vt:lpstr>
      <vt:lpstr>Amazing things about hashing</vt:lpstr>
      <vt:lpstr>What is hashing?</vt:lpstr>
      <vt:lpstr>Hashing students to chairs</vt:lpstr>
      <vt:lpstr>See any problems?</vt:lpstr>
      <vt:lpstr>Collisions</vt:lpstr>
      <vt:lpstr>Collision resolution 1</vt:lpstr>
      <vt:lpstr>Linear probing</vt:lpstr>
      <vt:lpstr>Collision resolution 2</vt:lpstr>
      <vt:lpstr>Chaining</vt:lpstr>
      <vt:lpstr>PowerPoint Presentation</vt:lpstr>
      <vt:lpstr>PowerPoint Presentation</vt:lpstr>
      <vt:lpstr>hashCode()</vt:lpstr>
      <vt:lpstr>PowerPoint Presentation</vt:lpstr>
      <vt:lpstr>Rules for hashCode()</vt:lpstr>
      <vt:lpstr>What's a good hash function for String?</vt:lpstr>
      <vt:lpstr>Exercise</vt:lpstr>
      <vt:lpstr>PowerPoint Presentation</vt:lpstr>
      <vt:lpstr>PowerPoint Presentation</vt:lpstr>
      <vt:lpstr>Discussion</vt:lpstr>
      <vt:lpstr>String</vt:lpstr>
      <vt:lpstr>Java 1 String</vt:lpstr>
      <vt:lpstr>Time complexity of hashing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Hashing Exercise</dc:title>
  <dc:creator>Spertus, Ellen</dc:creator>
  <cp:keywords>cs2510</cp:keywords>
  <cp:lastModifiedBy>Spertus, Ellen</cp:lastModifiedBy>
  <cp:revision>7</cp:revision>
  <cp:lastPrinted>2023-02-06T20:31:08Z</cp:lastPrinted>
  <dcterms:created xsi:type="dcterms:W3CDTF">2025-09-07T23:34:58Z</dcterms:created>
  <dcterms:modified xsi:type="dcterms:W3CDTF">2026-01-05T21:46:26Z</dcterms:modified>
</cp:coreProperties>
</file>